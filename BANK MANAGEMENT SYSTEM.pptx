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9144000"/>
  <p:notesSz cx="6858000" cy="9144000"/>
  <p:embeddedFontLst>
    <p:embeddedFont>
      <p:font typeface="Inter SemiBold"/>
      <p:regular r:id="rId15"/>
      <p:bold r:id="rId16"/>
      <p:italic r:id="rId17"/>
      <p:boldItalic r:id="rId18"/>
    </p:embeddedFont>
    <p:embeddedFont>
      <p:font typeface="Inter"/>
      <p:bold r:id="rId19"/>
      <p:boldItalic r:id="rId20"/>
    </p:embeddedFont>
    <p:embeddedFont>
      <p:font typeface="Inter ExtraBold"/>
      <p:bold r:id="rId21"/>
      <p:boldItalic r:id="rId22"/>
    </p:embeddedFont>
    <p:embeddedFont>
      <p:font typeface="Inter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hTj6s8WgEzQ7rEDG/Qappj2Mh6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22" Type="http://schemas.openxmlformats.org/officeDocument/2006/relationships/font" Target="fonts/InterExtraBold-boldItalic.fntdata"/><Relationship Id="rId21" Type="http://schemas.openxmlformats.org/officeDocument/2006/relationships/font" Target="fonts/InterExtraBold-bold.fntdata"/><Relationship Id="rId24" Type="http://schemas.openxmlformats.org/officeDocument/2006/relationships/font" Target="fonts/InterMedium-bold.fntdata"/><Relationship Id="rId23" Type="http://schemas.openxmlformats.org/officeDocument/2006/relationships/font" Target="fonts/Inter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nterMedium-boldItalic.fntdata"/><Relationship Id="rId25" Type="http://schemas.openxmlformats.org/officeDocument/2006/relationships/font" Target="fonts/InterMedium-italic.fntdata"/><Relationship Id="rId27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InterSemiBold-regular.fntdata"/><Relationship Id="rId14" Type="http://schemas.openxmlformats.org/officeDocument/2006/relationships/slide" Target="slides/slide8.xml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19" Type="http://schemas.openxmlformats.org/officeDocument/2006/relationships/font" Target="fonts/Inter-bold.fntdata"/><Relationship Id="rId18" Type="http://schemas.openxmlformats.org/officeDocument/2006/relationships/font" Target="fonts/Inter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h532960c06e006a8c_0_1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h532960c06e006a8c_0_17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rgbClr val="E0F2FE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bg>
      <p:bgPr>
        <a:solidFill>
          <a:srgbClr val="E0F2FE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rgbClr val="E0F2FE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 type="twoObj">
  <p:cSld name="TWO_OBJECTS">
    <p:bg>
      <p:bgPr>
        <a:solidFill>
          <a:srgbClr val="E0F2FE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bg>
      <p:bgPr>
        <a:solidFill>
          <a:srgbClr val="E0F2FE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titleOnly">
  <p:cSld name="TITLE_ONLY">
    <p:bg>
      <p:bgPr>
        <a:solidFill>
          <a:srgbClr val="E0F2FE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bg>
      <p:bgPr>
        <a:solidFill>
          <a:srgbClr val="E0F2FE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bg>
      <p:bgPr>
        <a:solidFill>
          <a:srgbClr val="E0F2FE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bg>
      <p:bgPr>
        <a:solidFill>
          <a:srgbClr val="E0F2FE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showMasterSp="0" type="vertTx">
  <p:cSld name="VERTICAL_TEXT">
    <p:bg>
      <p:bgPr>
        <a:solidFill>
          <a:srgbClr val="E0F2FE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bg>
      <p:bgPr>
        <a:solidFill>
          <a:srgbClr val="E0F2FE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532960c06e006a8c_0_1288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h532960c06e006a8c_0_128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9" name="Google Shape;89;h532960c06e006a8c_0_128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h532960c06e006a8c_0_128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h532960c06e006a8c_0_128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532960c06e006a8c_0_129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h532960c06e006a8c_0_129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h532960c06e006a8c_0_129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h532960c06e006a8c_0_129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h532960c06e006a8c_0_129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532960c06e006a8c_0_1300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h532960c06e006a8c_0_1300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h532960c06e006a8c_0_130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h532960c06e006a8c_0_130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h532960c06e006a8c_0_130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 type="twoObj">
  <p:cSld name="TWO_OBJEC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532960c06e006a8c_0_130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h532960c06e006a8c_0_130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7" name="Google Shape;107;h532960c06e006a8c_0_130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8" name="Google Shape;108;h532960c06e006a8c_0_130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h532960c06e006a8c_0_130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h532960c06e006a8c_0_130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532960c06e006a8c_0_13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h532960c06e006a8c_0_1313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h532960c06e006a8c_0_1313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5" name="Google Shape;115;h532960c06e006a8c_0_1313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h532960c06e006a8c_0_1313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7" name="Google Shape;117;h532960c06e006a8c_0_13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h532960c06e006a8c_0_13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h532960c06e006a8c_0_13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532960c06e006a8c_0_13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h532960c06e006a8c_0_13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h532960c06e006a8c_0_13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h532960c06e006a8c_0_13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532960c06e006a8c_0_13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h532960c06e006a8c_0_13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h532960c06e006a8c_0_13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532960c06e006a8c_0_1331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h532960c06e006a8c_0_1331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h532960c06e006a8c_0_1331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h532960c06e006a8c_0_13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h532960c06e006a8c_0_13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h532960c06e006a8c_0_13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532960c06e006a8c_0_1338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h532960c06e006a8c_0_133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h532960c06e006a8c_0_1338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h532960c06e006a8c_0_133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h532960c06e006a8c_0_133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h532960c06e006a8c_0_133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showMasterSp="0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532960c06e006a8c_0_13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h532960c06e006a8c_0_1345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h532960c06e006a8c_0_134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h532960c06e006a8c_0_134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h532960c06e006a8c_0_134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532960c06e006a8c_0_1351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h532960c06e006a8c_0_1351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h532960c06e006a8c_0_135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h532960c06e006a8c_0_135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h532960c06e006a8c_0_135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0F2FE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532960c06e006a8c_0_128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h532960c06e006a8c_0_128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h532960c06e006a8c_0_128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h532960c06e006a8c_0_128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h532960c06e006a8c_0_128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"/>
          <p:cNvGrpSpPr/>
          <p:nvPr/>
        </p:nvGrpSpPr>
        <p:grpSpPr>
          <a:xfrm>
            <a:off x="762000" y="1333500"/>
            <a:ext cx="7620000" cy="1914600"/>
            <a:chOff x="762000" y="1333500"/>
            <a:chExt cx="7620000" cy="1914600"/>
          </a:xfrm>
        </p:grpSpPr>
        <p:sp>
          <p:nvSpPr>
            <p:cNvPr id="160" name="Google Shape;160;p1"/>
            <p:cNvSpPr/>
            <p:nvPr/>
          </p:nvSpPr>
          <p:spPr>
            <a:xfrm>
              <a:off x="762000" y="1333500"/>
              <a:ext cx="57300" cy="1619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BDF8"/>
                </a:gs>
                <a:gs pos="100000">
                  <a:srgbClr val="3B82F6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762000" y="3238500"/>
              <a:ext cx="7620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" name="Google Shape;162;p1"/>
          <p:cNvSpPr txBox="1"/>
          <p:nvPr/>
        </p:nvSpPr>
        <p:spPr>
          <a:xfrm>
            <a:off x="990600" y="1285875"/>
            <a:ext cx="60009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218" u="none" strike="noStrike">
                <a:solidFill>
                  <a:srgbClr val="0284C7"/>
                </a:solidFill>
                <a:highlight>
                  <a:srgbClr val="E0F2FE"/>
                </a:highlight>
                <a:latin typeface="Inter"/>
                <a:ea typeface="Inter"/>
                <a:cs typeface="Inter"/>
                <a:sym typeface="Inter"/>
              </a:rPr>
              <a:t>COMPUTER SCIENCE PROJECT</a:t>
            </a:r>
            <a:endParaRPr b="1" i="0" sz="1218" u="none" strike="noStrike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IN" sz="3515" u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BANK MANAGEMENT SYSTEM</a:t>
            </a:r>
            <a:endParaRPr b="1" i="0" sz="1018" u="none" strike="noStrike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b="0" i="0" lang="en-IN" sz="1203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Automated Banking Operations &amp; Database System using Python and MySQL</a:t>
            </a:r>
            <a:endParaRPr b="1" i="0" sz="1018" u="none" strike="noStrike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63" name="Google Shape;163;p1"/>
          <p:cNvGrpSpPr/>
          <p:nvPr/>
        </p:nvGrpSpPr>
        <p:grpSpPr>
          <a:xfrm>
            <a:off x="762000" y="3571875"/>
            <a:ext cx="4000500" cy="2190900"/>
            <a:chOff x="0" y="0"/>
            <a:chExt cx="4000500" cy="2190900"/>
          </a:xfrm>
        </p:grpSpPr>
        <p:sp>
          <p:nvSpPr>
            <p:cNvPr id="164" name="Google Shape;164;p1"/>
            <p:cNvSpPr/>
            <p:nvPr/>
          </p:nvSpPr>
          <p:spPr>
            <a:xfrm>
              <a:off x="0" y="0"/>
              <a:ext cx="4000500" cy="2190900"/>
            </a:xfrm>
            <a:prstGeom prst="roundRect">
              <a:avLst>
                <a:gd fmla="val 695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"/>
            <p:cNvSpPr txBox="1"/>
            <p:nvPr/>
          </p:nvSpPr>
          <p:spPr>
            <a:xfrm>
              <a:off x="0" y="0"/>
              <a:ext cx="4000500" cy="2190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66700" lIns="266700" spcFirstLastPara="1" rIns="266700" wrap="square" tIns="26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12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SYSTEM HIGHLIGHTS</a:t>
              </a:r>
              <a:endParaRPr b="1" i="0" sz="12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0284C7"/>
                </a:buClr>
                <a:buSzPts val="1200"/>
                <a:buFont typeface="Inter"/>
                <a:buChar char="●"/>
              </a:pPr>
              <a:r>
                <a:rPr b="0" i="0" lang="en-IN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Account Creation &amp; Profile Management</a:t>
              </a:r>
              <a:endParaRPr b="1" i="0" sz="12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284C7"/>
                </a:buClr>
                <a:buSzPts val="1200"/>
                <a:buFont typeface="Inter"/>
                <a:buChar char="●"/>
              </a:pPr>
              <a:r>
                <a:rPr b="0" i="0" lang="en-IN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Automated Deposit &amp; Withdrawal Processing</a:t>
              </a:r>
              <a:endParaRPr b="1" i="0" sz="12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284C7"/>
                </a:buClr>
                <a:buSzPts val="1200"/>
                <a:buFont typeface="Inter"/>
                <a:buChar char="●"/>
              </a:pPr>
              <a:r>
                <a:rPr b="0" i="0" lang="en-IN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MySQL Database Integration &amp; Security</a:t>
              </a:r>
              <a:endParaRPr b="1" i="0" sz="12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6" name="Google Shape;166;p1"/>
          <p:cNvGrpSpPr/>
          <p:nvPr/>
        </p:nvGrpSpPr>
        <p:grpSpPr>
          <a:xfrm>
            <a:off x="4953000" y="3571875"/>
            <a:ext cx="3429000" cy="2190900"/>
            <a:chOff x="0" y="0"/>
            <a:chExt cx="3429000" cy="2190900"/>
          </a:xfrm>
        </p:grpSpPr>
        <p:sp>
          <p:nvSpPr>
            <p:cNvPr id="167" name="Google Shape;167;p1"/>
            <p:cNvSpPr/>
            <p:nvPr/>
          </p:nvSpPr>
          <p:spPr>
            <a:xfrm>
              <a:off x="0" y="0"/>
              <a:ext cx="3429000" cy="2190900"/>
            </a:xfrm>
            <a:prstGeom prst="roundRect">
              <a:avLst>
                <a:gd fmla="val 6955" name="adj"/>
              </a:avLst>
            </a:prstGeom>
            <a:solidFill>
              <a:srgbClr val="FFFFFF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"/>
            <p:cNvSpPr txBox="1"/>
            <p:nvPr/>
          </p:nvSpPr>
          <p:spPr>
            <a:xfrm>
              <a:off x="0" y="0"/>
              <a:ext cx="3429000" cy="2190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66700" lIns="266700" spcFirstLastPara="1" rIns="266700" wrap="square" tIns="26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DEVELOPED BY</a:t>
              </a:r>
              <a:endParaRPr b="1" i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i="0" lang="en-IN" sz="22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RIDDHIMAN GHOSH</a:t>
              </a:r>
              <a:endParaRPr b="1" i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450"/>
                </a:spcAft>
                <a:buNone/>
              </a:pPr>
              <a:r>
                <a:rPr b="0" i="0" lang="en-IN" sz="11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CLASS: XII-AROLL NO: 6009</a:t>
              </a:r>
              <a:endParaRPr b="1" i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9" name="Google Shape;169;p1"/>
          <p:cNvGrpSpPr/>
          <p:nvPr/>
        </p:nvGrpSpPr>
        <p:grpSpPr>
          <a:xfrm>
            <a:off x="7181850" y="1381125"/>
            <a:ext cx="1295550" cy="1295550"/>
            <a:chOff x="0" y="0"/>
            <a:chExt cx="1295550" cy="1295550"/>
          </a:xfrm>
        </p:grpSpPr>
        <p:sp>
          <p:nvSpPr>
            <p:cNvPr id="170" name="Google Shape;170;p1"/>
            <p:cNvSpPr/>
            <p:nvPr/>
          </p:nvSpPr>
          <p:spPr>
            <a:xfrm>
              <a:off x="0" y="0"/>
              <a:ext cx="1200300" cy="1200300"/>
            </a:xfrm>
            <a:prstGeom prst="roundRect">
              <a:avLst>
                <a:gd fmla="val 1587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The official Python programming language logo icon, classic blue and yellow snake emblem, clean professional software vector emblem style on plain white background" id="171" name="Google Shape;171;p1"/>
            <p:cNvPicPr preferRelativeResize="0"/>
            <p:nvPr/>
          </p:nvPicPr>
          <p:blipFill rotWithShape="1">
            <a:blip r:embed="rId3">
              <a:alphaModFix/>
            </a:blip>
            <a:srcRect b="-18864" l="0" r="-18864" t="0"/>
            <a:stretch/>
          </p:blipFill>
          <p:spPr>
            <a:xfrm>
              <a:off x="95250" y="95250"/>
              <a:ext cx="1200300" cy="1200300"/>
            </a:xfrm>
            <a:prstGeom prst="roundRect">
              <a:avLst>
                <a:gd fmla="val 15873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2"/>
          <p:cNvGrpSpPr/>
          <p:nvPr/>
        </p:nvGrpSpPr>
        <p:grpSpPr>
          <a:xfrm>
            <a:off x="571500" y="571500"/>
            <a:ext cx="8001000" cy="857400"/>
            <a:chOff x="0" y="0"/>
            <a:chExt cx="8001000" cy="857400"/>
          </a:xfrm>
        </p:grpSpPr>
        <p:sp>
          <p:nvSpPr>
            <p:cNvPr id="177" name="Google Shape;177;p2"/>
            <p:cNvSpPr/>
            <p:nvPr/>
          </p:nvSpPr>
          <p:spPr>
            <a:xfrm>
              <a:off x="0" y="0"/>
              <a:ext cx="47700" cy="8574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284C7"/>
                </a:gs>
                <a:gs pos="100000">
                  <a:srgbClr val="0369A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"/>
            <p:cNvSpPr txBox="1"/>
            <p:nvPr/>
          </p:nvSpPr>
          <p:spPr>
            <a:xfrm>
              <a:off x="228600" y="0"/>
              <a:ext cx="7772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125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PROJECT OVERVIEW</a:t>
              </a:r>
              <a:endParaRPr b="1" sz="1125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IN" sz="259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INTRODUCTION</a:t>
              </a:r>
              <a:endParaRPr b="0" sz="259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IN" sz="1064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Bank Management System — Streamlining digital banking operations and account oversight</a:t>
              </a:r>
              <a:endParaRPr b="0" sz="1064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9" name="Google Shape;179;p2"/>
          <p:cNvGrpSpPr/>
          <p:nvPr/>
        </p:nvGrpSpPr>
        <p:grpSpPr>
          <a:xfrm>
            <a:off x="571500" y="1762125"/>
            <a:ext cx="2476500" cy="4524300"/>
            <a:chOff x="0" y="0"/>
            <a:chExt cx="2476500" cy="4524300"/>
          </a:xfrm>
        </p:grpSpPr>
        <p:sp>
          <p:nvSpPr>
            <p:cNvPr id="180" name="Google Shape;180;p2"/>
            <p:cNvSpPr/>
            <p:nvPr/>
          </p:nvSpPr>
          <p:spPr>
            <a:xfrm>
              <a:off x="0" y="0"/>
              <a:ext cx="2476500" cy="45243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2" name="Google Shape;182;p2"/>
            <p:cNvGrpSpPr/>
            <p:nvPr/>
          </p:nvGrpSpPr>
          <p:grpSpPr>
            <a:xfrm>
              <a:off x="228600" y="266700"/>
              <a:ext cx="457200" cy="489331"/>
              <a:chOff x="0" y="0"/>
              <a:chExt cx="457200" cy="489331"/>
            </a:xfrm>
          </p:grpSpPr>
          <p:sp>
            <p:nvSpPr>
              <p:cNvPr id="183" name="Google Shape;183;p2"/>
              <p:cNvSpPr/>
              <p:nvPr/>
            </p:nvSpPr>
            <p:spPr>
              <a:xfrm>
                <a:off x="0" y="0"/>
                <a:ext cx="457200" cy="457200"/>
              </a:xfrm>
              <a:prstGeom prst="roundRect">
                <a:avLst>
                  <a:gd fmla="val 25000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2"/>
              <p:cNvSpPr txBox="1"/>
              <p:nvPr/>
            </p:nvSpPr>
            <p:spPr>
              <a:xfrm>
                <a:off x="0" y="32131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2200">
                    <a:solidFill>
                      <a:srgbClr val="0284C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account_balance</a:t>
                </a:r>
                <a:endParaRPr sz="22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85" name="Google Shape;185;p2"/>
            <p:cNvSpPr txBox="1"/>
            <p:nvPr/>
          </p:nvSpPr>
          <p:spPr>
            <a:xfrm>
              <a:off x="228600" y="876300"/>
              <a:ext cx="20193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8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ACCESSIBILITY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Real-Time Tracking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I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Useful for both bank employees and customers to effortlessly keep track of account details.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I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Digital transformation brings essential information directly to your fingertips.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6" name="Google Shape;186;p2"/>
          <p:cNvGrpSpPr/>
          <p:nvPr/>
        </p:nvGrpSpPr>
        <p:grpSpPr>
          <a:xfrm>
            <a:off x="3333750" y="1762125"/>
            <a:ext cx="2476500" cy="4524300"/>
            <a:chOff x="0" y="0"/>
            <a:chExt cx="2476500" cy="4524300"/>
          </a:xfrm>
        </p:grpSpPr>
        <p:sp>
          <p:nvSpPr>
            <p:cNvPr id="187" name="Google Shape;187;p2"/>
            <p:cNvSpPr/>
            <p:nvPr/>
          </p:nvSpPr>
          <p:spPr>
            <a:xfrm>
              <a:off x="0" y="0"/>
              <a:ext cx="2476500" cy="45243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9" name="Google Shape;189;p2"/>
            <p:cNvGrpSpPr/>
            <p:nvPr/>
          </p:nvGrpSpPr>
          <p:grpSpPr>
            <a:xfrm>
              <a:off x="228600" y="266700"/>
              <a:ext cx="457200" cy="489331"/>
              <a:chOff x="0" y="0"/>
              <a:chExt cx="457200" cy="489331"/>
            </a:xfrm>
          </p:grpSpPr>
          <p:sp>
            <p:nvSpPr>
              <p:cNvPr id="190" name="Google Shape;190;p2"/>
              <p:cNvSpPr/>
              <p:nvPr/>
            </p:nvSpPr>
            <p:spPr>
              <a:xfrm>
                <a:off x="0" y="0"/>
                <a:ext cx="457200" cy="457200"/>
              </a:xfrm>
              <a:prstGeom prst="roundRect">
                <a:avLst>
                  <a:gd fmla="val 25000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2"/>
              <p:cNvSpPr txBox="1"/>
              <p:nvPr/>
            </p:nvSpPr>
            <p:spPr>
              <a:xfrm>
                <a:off x="0" y="32131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2200">
                    <a:solidFill>
                      <a:srgbClr val="0284C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manage_accounts</a:t>
                </a:r>
                <a:endParaRPr sz="22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92" name="Google Shape;192;p2"/>
            <p:cNvSpPr txBox="1"/>
            <p:nvPr/>
          </p:nvSpPr>
          <p:spPr>
            <a:xfrm>
              <a:off x="228600" y="876300"/>
              <a:ext cx="20193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8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OPERATIONS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Account Control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I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Emphasizes seamless creation of new customer accounts alongside efficient management and maintenance of existing account holders within the bank.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3" name="Google Shape;193;p2"/>
          <p:cNvGrpSpPr/>
          <p:nvPr/>
        </p:nvGrpSpPr>
        <p:grpSpPr>
          <a:xfrm>
            <a:off x="6096000" y="1762125"/>
            <a:ext cx="2476500" cy="4524300"/>
            <a:chOff x="0" y="0"/>
            <a:chExt cx="2476500" cy="4524300"/>
          </a:xfrm>
        </p:grpSpPr>
        <p:sp>
          <p:nvSpPr>
            <p:cNvPr id="194" name="Google Shape;194;p2"/>
            <p:cNvSpPr/>
            <p:nvPr/>
          </p:nvSpPr>
          <p:spPr>
            <a:xfrm>
              <a:off x="0" y="0"/>
              <a:ext cx="2476500" cy="45243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905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6" name="Google Shape;196;p2"/>
            <p:cNvGrpSpPr/>
            <p:nvPr/>
          </p:nvGrpSpPr>
          <p:grpSpPr>
            <a:xfrm>
              <a:off x="228600" y="266700"/>
              <a:ext cx="457200" cy="489331"/>
              <a:chOff x="0" y="0"/>
              <a:chExt cx="457200" cy="489331"/>
            </a:xfrm>
          </p:grpSpPr>
          <p:sp>
            <p:nvSpPr>
              <p:cNvPr id="197" name="Google Shape;197;p2"/>
              <p:cNvSpPr/>
              <p:nvPr/>
            </p:nvSpPr>
            <p:spPr>
              <a:xfrm>
                <a:off x="0" y="0"/>
                <a:ext cx="457200" cy="457200"/>
              </a:xfrm>
              <a:prstGeom prst="roundRect">
                <a:avLst>
                  <a:gd fmla="val 25000" name="adj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2"/>
              <p:cNvSpPr txBox="1"/>
              <p:nvPr/>
            </p:nvSpPr>
            <p:spPr>
              <a:xfrm>
                <a:off x="0" y="32131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220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assessment</a:t>
                </a:r>
                <a:endParaRPr sz="22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99" name="Google Shape;199;p2"/>
            <p:cNvSpPr txBox="1"/>
            <p:nvPr/>
          </p:nvSpPr>
          <p:spPr>
            <a:xfrm>
              <a:off x="228600" y="876300"/>
              <a:ext cx="2019300" cy="33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8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ANALYTICS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Automated Reporting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I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Automates transactions for instant detail views.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I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Capable of generating daily, monthly, and annual reports to enhance overall operational efficiency.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3"/>
          <p:cNvGrpSpPr/>
          <p:nvPr/>
        </p:nvGrpSpPr>
        <p:grpSpPr>
          <a:xfrm>
            <a:off x="571500" y="428625"/>
            <a:ext cx="7848600" cy="762000"/>
            <a:chOff x="0" y="0"/>
            <a:chExt cx="7848600" cy="762000"/>
          </a:xfrm>
        </p:grpSpPr>
        <p:sp>
          <p:nvSpPr>
            <p:cNvPr id="205" name="Google Shape;205;p3"/>
            <p:cNvSpPr/>
            <p:nvPr/>
          </p:nvSpPr>
          <p:spPr>
            <a:xfrm>
              <a:off x="0" y="0"/>
              <a:ext cx="47700" cy="7620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284C7"/>
                </a:gs>
                <a:gs pos="100000">
                  <a:srgbClr val="0369A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3"/>
            <p:cNvSpPr txBox="1"/>
            <p:nvPr/>
          </p:nvSpPr>
          <p:spPr>
            <a:xfrm>
              <a:off x="2286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056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DATABASE INITIALIZATION</a:t>
              </a:r>
              <a:endParaRPr b="1" sz="1056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2405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SOURCE CODE</a:t>
              </a:r>
              <a:endParaRPr b="0" sz="2405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97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Connecting Python script to MySQL server and defining customer table schema</a:t>
              </a:r>
              <a:endParaRPr b="0" sz="97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7" name="Google Shape;207;p3"/>
          <p:cNvGrpSpPr/>
          <p:nvPr/>
        </p:nvGrpSpPr>
        <p:grpSpPr>
          <a:xfrm>
            <a:off x="571500" y="1428750"/>
            <a:ext cx="5238900" cy="4857900"/>
            <a:chOff x="0" y="0"/>
            <a:chExt cx="5238900" cy="4857900"/>
          </a:xfrm>
        </p:grpSpPr>
        <p:sp>
          <p:nvSpPr>
            <p:cNvPr id="208" name="Google Shape;208;p3"/>
            <p:cNvSpPr/>
            <p:nvPr/>
          </p:nvSpPr>
          <p:spPr>
            <a:xfrm>
              <a:off x="0" y="0"/>
              <a:ext cx="5238900" cy="4857900"/>
            </a:xfrm>
            <a:prstGeom prst="roundRect">
              <a:avLst>
                <a:gd fmla="val 2745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9" name="Google Shape;209;p3"/>
            <p:cNvCxnSpPr/>
            <p:nvPr/>
          </p:nvCxnSpPr>
          <p:spPr>
            <a:xfrm>
              <a:off x="0" y="400050"/>
              <a:ext cx="5238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0" name="Google Shape;210;p3"/>
            <p:cNvSpPr/>
            <p:nvPr/>
          </p:nvSpPr>
          <p:spPr>
            <a:xfrm>
              <a:off x="180975" y="152400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333375" y="152400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485775" y="152400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3"/>
            <p:cNvSpPr txBox="1"/>
            <p:nvPr/>
          </p:nvSpPr>
          <p:spPr>
            <a:xfrm>
              <a:off x="723900" y="104775"/>
              <a:ext cx="285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IN" sz="90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main_db_setup.py</a:t>
              </a:r>
              <a:endParaRPr b="0" sz="9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14" name="Google Shape;214;p3"/>
            <p:cNvSpPr txBox="1"/>
            <p:nvPr/>
          </p:nvSpPr>
          <p:spPr>
            <a:xfrm>
              <a:off x="228600" y="552450"/>
              <a:ext cx="4781700" cy="41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1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import</a:t>
              </a:r>
              <a:r>
                <a:rPr lang="en-IN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mysql.connector </a:t>
              </a:r>
              <a:r>
                <a:rPr b="1" lang="en-IN" sz="11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as</a:t>
              </a:r>
              <a:r>
                <a:rPr lang="en-IN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sql</a:t>
              </a:r>
              <a:endParaRPr sz="11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conn = sql.</a:t>
              </a:r>
              <a:r>
                <a:rPr lang="en-IN" sz="115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connect</a:t>
              </a:r>
              <a:r>
                <a:rPr lang="en-IN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endParaRPr sz="11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IN" sz="115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host</a:t>
              </a:r>
              <a:r>
                <a:rPr lang="en-IN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lang="en-IN" sz="115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'localhost'</a:t>
              </a:r>
              <a:r>
                <a:rPr lang="en-IN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en-IN" sz="115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user</a:t>
              </a:r>
              <a:r>
                <a:rPr lang="en-IN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lang="en-IN" sz="115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'root'</a:t>
              </a:r>
              <a:r>
                <a:rPr lang="en-IN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1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IN" sz="115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passwd</a:t>
              </a:r>
              <a:r>
                <a:rPr lang="en-IN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lang="en-IN" sz="115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'manager'</a:t>
              </a:r>
              <a:r>
                <a:rPr lang="en-IN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en-IN" sz="1150">
                  <a:solidFill>
                    <a:srgbClr val="F43F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database</a:t>
              </a:r>
              <a:r>
                <a:rPr lang="en-IN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lang="en-IN" sz="115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'bank'</a:t>
              </a:r>
              <a:endParaRPr sz="11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IN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sz="11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IN" sz="11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lang="en-IN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conn.</a:t>
              </a:r>
              <a:r>
                <a:rPr lang="en-IN" sz="115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is_connected</a:t>
              </a:r>
              <a:r>
                <a:rPr lang="en-IN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():</a:t>
              </a:r>
              <a:endParaRPr sz="11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IN" sz="115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</a:t>
              </a:r>
              <a:r>
                <a:rPr lang="en-IN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IN" sz="115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'connected succesfully'</a:t>
              </a:r>
              <a:r>
                <a:rPr lang="en-IN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sz="11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IN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cur = conn.</a:t>
              </a:r>
              <a:r>
                <a:rPr lang="en-IN" sz="115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cursor</a:t>
              </a:r>
              <a:r>
                <a:rPr lang="en-IN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</a:t>
              </a:r>
              <a:endParaRPr sz="11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IN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cur.</a:t>
              </a:r>
              <a:r>
                <a:rPr lang="en-IN" sz="115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execute</a:t>
              </a:r>
              <a:r>
                <a:rPr lang="en-IN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endParaRPr sz="11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IN" sz="115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'create table customer_details('</a:t>
              </a:r>
              <a:endParaRPr sz="11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IN" sz="115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'acct_no int primary key,'</a:t>
              </a:r>
              <a:endParaRPr sz="11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IN" sz="115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'acct_name varchar(25),'</a:t>
              </a:r>
              <a:endParaRPr sz="11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IN" sz="115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'phone_no bigint(25) check(phone_no&gt;11),'</a:t>
              </a:r>
              <a:endParaRPr sz="11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IN" sz="115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'address varchar(25),'</a:t>
              </a:r>
              <a:endParaRPr sz="11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IN" sz="115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'cr_amt float)'</a:t>
              </a:r>
              <a:endParaRPr sz="11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IN"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sz="11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15" name="Google Shape;215;p3"/>
          <p:cNvGrpSpPr/>
          <p:nvPr/>
        </p:nvGrpSpPr>
        <p:grpSpPr>
          <a:xfrm>
            <a:off x="6000750" y="1428750"/>
            <a:ext cx="2571900" cy="1467000"/>
            <a:chOff x="0" y="0"/>
            <a:chExt cx="2571900" cy="1467000"/>
          </a:xfrm>
        </p:grpSpPr>
        <p:sp>
          <p:nvSpPr>
            <p:cNvPr id="216" name="Google Shape;216;p3"/>
            <p:cNvSpPr/>
            <p:nvPr/>
          </p:nvSpPr>
          <p:spPr>
            <a:xfrm>
              <a:off x="0" y="0"/>
              <a:ext cx="2571900" cy="1467000"/>
            </a:xfrm>
            <a:prstGeom prst="roundRect">
              <a:avLst>
                <a:gd fmla="val 909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190500" y="171450"/>
              <a:ext cx="362100" cy="362100"/>
            </a:xfrm>
            <a:prstGeom prst="roundRect">
              <a:avLst>
                <a:gd fmla="val 26315" name="adj"/>
              </a:avLst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3"/>
            <p:cNvSpPr txBox="1"/>
            <p:nvPr/>
          </p:nvSpPr>
          <p:spPr>
            <a:xfrm>
              <a:off x="190500" y="197739"/>
              <a:ext cx="3621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dns</a:t>
              </a:r>
              <a:endParaRPr sz="18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9" name="Google Shape;219;p3"/>
            <p:cNvSpPr txBox="1"/>
            <p:nvPr/>
          </p:nvSpPr>
          <p:spPr>
            <a:xfrm>
              <a:off x="190500" y="609600"/>
              <a:ext cx="21909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8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STEP 01</a:t>
              </a:r>
              <a:endParaRPr b="1" sz="8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I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Database Connection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Establishes link with local MySQL instance using root credentials.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0" name="Google Shape;220;p3"/>
          <p:cNvGrpSpPr/>
          <p:nvPr/>
        </p:nvGrpSpPr>
        <p:grpSpPr>
          <a:xfrm>
            <a:off x="6000750" y="3124200"/>
            <a:ext cx="2571900" cy="1467000"/>
            <a:chOff x="0" y="0"/>
            <a:chExt cx="2571900" cy="1467000"/>
          </a:xfrm>
        </p:grpSpPr>
        <p:sp>
          <p:nvSpPr>
            <p:cNvPr id="221" name="Google Shape;221;p3"/>
            <p:cNvSpPr/>
            <p:nvPr/>
          </p:nvSpPr>
          <p:spPr>
            <a:xfrm>
              <a:off x="0" y="0"/>
              <a:ext cx="2571900" cy="1467000"/>
            </a:xfrm>
            <a:prstGeom prst="roundRect">
              <a:avLst>
                <a:gd fmla="val 909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190500" y="171450"/>
              <a:ext cx="362100" cy="362100"/>
            </a:xfrm>
            <a:prstGeom prst="roundRect">
              <a:avLst>
                <a:gd fmla="val 26315" name="adj"/>
              </a:avLst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3"/>
            <p:cNvSpPr txBox="1"/>
            <p:nvPr/>
          </p:nvSpPr>
          <p:spPr>
            <a:xfrm>
              <a:off x="190500" y="197739"/>
              <a:ext cx="3621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18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24" name="Google Shape;224;p3"/>
            <p:cNvSpPr txBox="1"/>
            <p:nvPr/>
          </p:nvSpPr>
          <p:spPr>
            <a:xfrm>
              <a:off x="190500" y="609600"/>
              <a:ext cx="21909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8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STEP 02</a:t>
              </a:r>
              <a:endParaRPr b="1" sz="8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I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Connection Check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Verifies active database session before initializing cursor operations.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5" name="Google Shape;225;p3"/>
          <p:cNvGrpSpPr/>
          <p:nvPr/>
        </p:nvGrpSpPr>
        <p:grpSpPr>
          <a:xfrm>
            <a:off x="6000750" y="4819650"/>
            <a:ext cx="2571900" cy="1467000"/>
            <a:chOff x="0" y="0"/>
            <a:chExt cx="2571900" cy="1467000"/>
          </a:xfrm>
        </p:grpSpPr>
        <p:sp>
          <p:nvSpPr>
            <p:cNvPr id="226" name="Google Shape;226;p3"/>
            <p:cNvSpPr/>
            <p:nvPr/>
          </p:nvSpPr>
          <p:spPr>
            <a:xfrm>
              <a:off x="0" y="0"/>
              <a:ext cx="2571900" cy="1467000"/>
            </a:xfrm>
            <a:prstGeom prst="roundRect">
              <a:avLst>
                <a:gd fmla="val 9090" name="adj"/>
              </a:avLst>
            </a:prstGeom>
            <a:solidFill>
              <a:srgbClr val="FFFFFF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190500" y="171450"/>
              <a:ext cx="362100" cy="362100"/>
            </a:xfrm>
            <a:prstGeom prst="roundRect">
              <a:avLst>
                <a:gd fmla="val 26315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"/>
            <p:cNvSpPr txBox="1"/>
            <p:nvPr/>
          </p:nvSpPr>
          <p:spPr>
            <a:xfrm>
              <a:off x="190500" y="197739"/>
              <a:ext cx="3621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table_chart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29" name="Google Shape;229;p3"/>
            <p:cNvSpPr txBox="1"/>
            <p:nvPr/>
          </p:nvSpPr>
          <p:spPr>
            <a:xfrm>
              <a:off x="190500" y="609600"/>
              <a:ext cx="21909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8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STEP 03</a:t>
              </a:r>
              <a:endParaRPr b="1" sz="8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IN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Table Schema Creation</a:t>
              </a:r>
              <a:endParaRPr b="1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Executes DDL script to create customer_details table with constraints.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4"/>
          <p:cNvGrpSpPr/>
          <p:nvPr/>
        </p:nvGrpSpPr>
        <p:grpSpPr>
          <a:xfrm>
            <a:off x="571500" y="428625"/>
            <a:ext cx="7848600" cy="762000"/>
            <a:chOff x="0" y="0"/>
            <a:chExt cx="7848600" cy="762000"/>
          </a:xfrm>
        </p:grpSpPr>
        <p:sp>
          <p:nvSpPr>
            <p:cNvPr id="235" name="Google Shape;235;p4"/>
            <p:cNvSpPr/>
            <p:nvPr/>
          </p:nvSpPr>
          <p:spPr>
            <a:xfrm>
              <a:off x="0" y="0"/>
              <a:ext cx="47700" cy="7620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284C7"/>
                </a:gs>
                <a:gs pos="100000">
                  <a:srgbClr val="0369A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6" name="Google Shape;236;p4"/>
            <p:cNvGrpSpPr/>
            <p:nvPr/>
          </p:nvGrpSpPr>
          <p:grpSpPr>
            <a:xfrm>
              <a:off x="228600" y="0"/>
              <a:ext cx="7620000" cy="762000"/>
              <a:chOff x="0" y="0"/>
              <a:chExt cx="7620000" cy="762000"/>
            </a:xfrm>
          </p:grpSpPr>
          <p:sp>
            <p:nvSpPr>
              <p:cNvPr id="237" name="Google Shape;237;p4"/>
              <p:cNvSpPr/>
              <p:nvPr/>
            </p:nvSpPr>
            <p:spPr>
              <a:xfrm>
                <a:off x="0" y="0"/>
                <a:ext cx="7620000" cy="762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4"/>
              <p:cNvSpPr txBox="1"/>
              <p:nvPr/>
            </p:nvSpPr>
            <p:spPr>
              <a:xfrm>
                <a:off x="0" y="0"/>
                <a:ext cx="7620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050">
                    <a:solidFill>
                      <a:srgbClr val="0284C7"/>
                    </a:solidFill>
                    <a:latin typeface="Inter"/>
                    <a:ea typeface="Inter"/>
                    <a:cs typeface="Inter"/>
                    <a:sym typeface="Inter"/>
                  </a:rPr>
                  <a:t>ACCOUNT CREATION LOGIC</a:t>
                </a:r>
                <a:endParaRPr b="1" sz="10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IN" sz="24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SOURCE CODE</a:t>
                </a:r>
                <a:endParaRPr b="1" sz="8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IN" sz="97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Python menu handling and customer record insertion into MySQL database</a:t>
                </a:r>
                <a:endParaRPr b="1" sz="8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39" name="Google Shape;239;p4"/>
          <p:cNvGrpSpPr/>
          <p:nvPr/>
        </p:nvGrpSpPr>
        <p:grpSpPr>
          <a:xfrm>
            <a:off x="571500" y="1428750"/>
            <a:ext cx="5238900" cy="4857900"/>
            <a:chOff x="0" y="0"/>
            <a:chExt cx="5238900" cy="4857900"/>
          </a:xfrm>
        </p:grpSpPr>
        <p:sp>
          <p:nvSpPr>
            <p:cNvPr id="240" name="Google Shape;240;p4"/>
            <p:cNvSpPr/>
            <p:nvPr/>
          </p:nvSpPr>
          <p:spPr>
            <a:xfrm>
              <a:off x="0" y="0"/>
              <a:ext cx="5238900" cy="4857900"/>
            </a:xfrm>
            <a:prstGeom prst="roundRect">
              <a:avLst>
                <a:gd fmla="val 2745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1" name="Google Shape;241;p4"/>
            <p:cNvCxnSpPr/>
            <p:nvPr/>
          </p:nvCxnSpPr>
          <p:spPr>
            <a:xfrm>
              <a:off x="0" y="400050"/>
              <a:ext cx="5238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2" name="Google Shape;242;p4"/>
            <p:cNvSpPr/>
            <p:nvPr/>
          </p:nvSpPr>
          <p:spPr>
            <a:xfrm>
              <a:off x="180975" y="152400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333375" y="152400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485775" y="152400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5" name="Google Shape;245;p4"/>
            <p:cNvGrpSpPr/>
            <p:nvPr/>
          </p:nvGrpSpPr>
          <p:grpSpPr>
            <a:xfrm>
              <a:off x="723900" y="104775"/>
              <a:ext cx="2857500" cy="228600"/>
              <a:chOff x="0" y="0"/>
              <a:chExt cx="2857500" cy="228600"/>
            </a:xfrm>
          </p:grpSpPr>
          <p:sp>
            <p:nvSpPr>
              <p:cNvPr id="246" name="Google Shape;246;p4"/>
              <p:cNvSpPr/>
              <p:nvPr/>
            </p:nvSpPr>
            <p:spPr>
              <a:xfrm>
                <a:off x="0" y="0"/>
                <a:ext cx="28575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4"/>
              <p:cNvSpPr txBox="1"/>
              <p:nvPr/>
            </p:nvSpPr>
            <p:spPr>
              <a:xfrm>
                <a:off x="0" y="0"/>
                <a:ext cx="2857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IN" sz="900">
                    <a:solidFill>
                      <a:srgbClr val="94A3B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create_account.py</a:t>
                </a:r>
                <a:endParaRPr b="0" sz="90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48" name="Google Shape;248;p4"/>
            <p:cNvGrpSpPr/>
            <p:nvPr/>
          </p:nvGrpSpPr>
          <p:grpSpPr>
            <a:xfrm>
              <a:off x="228600" y="514350"/>
              <a:ext cx="4781700" cy="4152900"/>
              <a:chOff x="0" y="0"/>
              <a:chExt cx="4781700" cy="4152900"/>
            </a:xfrm>
          </p:grpSpPr>
          <p:sp>
            <p:nvSpPr>
              <p:cNvPr id="249" name="Google Shape;249;p4"/>
              <p:cNvSpPr/>
              <p:nvPr/>
            </p:nvSpPr>
            <p:spPr>
              <a:xfrm>
                <a:off x="0" y="0"/>
                <a:ext cx="4781700" cy="4152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4"/>
              <p:cNvSpPr txBox="1"/>
              <p:nvPr/>
            </p:nvSpPr>
            <p:spPr>
              <a:xfrm>
                <a:off x="0" y="0"/>
                <a:ext cx="4781700" cy="415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9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import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mysql.connector </a:t>
                </a:r>
                <a:r>
                  <a:rPr b="1" lang="en-IN" sz="9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as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sql</a:t>
                </a:r>
                <a:endParaRPr b="0" sz="9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conn = sql.</a:t>
                </a:r>
                <a:r>
                  <a:rPr b="0" lang="en-IN" sz="950">
                    <a:solidFill>
                      <a:srgbClr val="60A5F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connect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</a:t>
                </a:r>
                <a:r>
                  <a:rPr b="0" lang="en-IN" sz="95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host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=</a:t>
                </a:r>
                <a:r>
                  <a:rPr b="0" lang="en-IN" sz="9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'localhost'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b="0" lang="en-IN" sz="95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user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=</a:t>
                </a:r>
                <a:r>
                  <a:rPr b="0" lang="en-IN" sz="9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'root'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b="0" lang="en-IN" sz="95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passwd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=</a:t>
                </a:r>
                <a:r>
                  <a:rPr b="0" lang="en-IN" sz="9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'manager'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b="0" lang="en-IN" sz="95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database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=</a:t>
                </a:r>
                <a:r>
                  <a:rPr b="0" lang="en-IN" sz="9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'bank'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</a:t>
                </a:r>
                <a:endParaRPr b="0" sz="9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cur = conn.</a:t>
                </a:r>
                <a:r>
                  <a:rPr b="0" lang="en-IN" sz="950">
                    <a:solidFill>
                      <a:srgbClr val="60A5F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cursor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()</a:t>
                </a:r>
                <a:endParaRPr b="0" sz="9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conn.autocommit = </a:t>
                </a:r>
                <a:r>
                  <a:rPr b="1" lang="en-IN" sz="9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True</a:t>
                </a:r>
                <a:endParaRPr b="0" sz="9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IN" sz="950">
                    <a:solidFill>
                      <a:srgbClr val="60A5F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print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</a:t>
                </a:r>
                <a:r>
                  <a:rPr b="0" lang="en-IN" sz="9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'1.CREATE BANK ACCOUNT'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</a:t>
                </a:r>
                <a:endParaRPr b="0" sz="9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-IN" sz="950">
                    <a:solidFill>
                      <a:srgbClr val="60A5F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print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</a:t>
                </a:r>
                <a:r>
                  <a:rPr b="0" lang="en-IN" sz="9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'2.TRANSACTION'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</a:t>
                </a:r>
                <a:endParaRPr b="0" sz="9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-IN" sz="950">
                    <a:solidFill>
                      <a:srgbClr val="60A5F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print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</a:t>
                </a:r>
                <a:r>
                  <a:rPr b="0" lang="en-IN" sz="9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'3.CUSTOMER DETAILS'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</a:t>
                </a:r>
                <a:endParaRPr b="0" sz="9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-IN" sz="950">
                    <a:solidFill>
                      <a:srgbClr val="60A5F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print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</a:t>
                </a:r>
                <a:r>
                  <a:rPr b="0" lang="en-IN" sz="9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'4.TRANSACTION DETAILS'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</a:t>
                </a:r>
                <a:endParaRPr b="0" sz="9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-IN" sz="950">
                    <a:solidFill>
                      <a:srgbClr val="60A5F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print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</a:t>
                </a:r>
                <a:r>
                  <a:rPr b="0" lang="en-IN" sz="9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'5.DELETE DETAILS'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</a:t>
                </a:r>
                <a:endParaRPr b="0" sz="9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-IN" sz="950">
                    <a:solidFill>
                      <a:srgbClr val="60A5F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print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</a:t>
                </a:r>
                <a:r>
                  <a:rPr b="0" lang="en-IN" sz="9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'6.QUIT'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</a:t>
                </a:r>
                <a:endParaRPr b="0" sz="9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n = </a:t>
                </a:r>
                <a:r>
                  <a:rPr b="0" lang="en-IN" sz="9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</a:t>
                </a:r>
                <a:r>
                  <a:rPr b="0" lang="en-IN" sz="950">
                    <a:solidFill>
                      <a:srgbClr val="60A5F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input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</a:t>
                </a:r>
                <a:r>
                  <a:rPr b="0" lang="en-IN" sz="9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'Enter your CHOICE='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))</a:t>
                </a:r>
                <a:endParaRPr b="0" sz="9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1" lang="en-IN" sz="9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if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n == </a:t>
                </a:r>
                <a:r>
                  <a:rPr b="0" lang="en-IN" sz="950">
                    <a:solidFill>
                      <a:srgbClr val="F59E0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1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</a:t>
                </a:r>
                <a:endParaRPr b="0" sz="9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    acc_no = </a:t>
                </a:r>
                <a:r>
                  <a:rPr b="0" lang="en-IN" sz="9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</a:t>
                </a:r>
                <a:r>
                  <a:rPr b="0" lang="en-IN" sz="950">
                    <a:solidFill>
                      <a:srgbClr val="60A5F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input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</a:t>
                </a:r>
                <a:r>
                  <a:rPr b="0" lang="en-IN" sz="9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'Enter your ACCOUNT NUMBER='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))</a:t>
                </a:r>
                <a:endParaRPr b="0" sz="9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    acc_name = </a:t>
                </a:r>
                <a:r>
                  <a:rPr b="0" lang="en-IN" sz="950">
                    <a:solidFill>
                      <a:srgbClr val="60A5F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input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</a:t>
                </a:r>
                <a:r>
                  <a:rPr b="0" lang="en-IN" sz="9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'Enter your ACCOUNT NAME='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</a:t>
                </a:r>
                <a:endParaRPr b="0" sz="9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    ph_no = </a:t>
                </a:r>
                <a:r>
                  <a:rPr b="0" lang="en-IN" sz="9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</a:t>
                </a:r>
                <a:r>
                  <a:rPr b="0" lang="en-IN" sz="950">
                    <a:solidFill>
                      <a:srgbClr val="60A5F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input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</a:t>
                </a:r>
                <a:r>
                  <a:rPr b="0" lang="en-IN" sz="9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'Enter your PHONE NUMBER='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))</a:t>
                </a:r>
                <a:endParaRPr b="0" sz="9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    add = </a:t>
                </a:r>
                <a:r>
                  <a:rPr b="0" lang="en-IN" sz="950">
                    <a:solidFill>
                      <a:srgbClr val="60A5F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input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</a:t>
                </a:r>
                <a:r>
                  <a:rPr b="0" lang="en-IN" sz="9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'Enter your place='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</a:t>
                </a:r>
                <a:endParaRPr b="0" sz="9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    cr_amt = </a:t>
                </a:r>
                <a:r>
                  <a:rPr b="0" lang="en-IN" sz="9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</a:t>
                </a:r>
                <a:r>
                  <a:rPr b="0" lang="en-IN" sz="950">
                    <a:solidFill>
                      <a:srgbClr val="60A5F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input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</a:t>
                </a:r>
                <a:r>
                  <a:rPr b="0" lang="en-IN" sz="9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'Enter your credit amount='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))</a:t>
                </a:r>
                <a:endParaRPr b="0" sz="9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    V_SQLInsert = </a:t>
                </a:r>
                <a:r>
                  <a:rPr b="0" lang="en-IN" sz="9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"INSERT INTO customer_details values("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+ </a:t>
                </a:r>
                <a:r>
                  <a:rPr b="0" lang="en-IN" sz="9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str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(acc_no) + ...</a:t>
                </a:r>
                <a:endParaRPr b="0" sz="9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    cur.</a:t>
                </a:r>
                <a:r>
                  <a:rPr b="0" lang="en-IN" sz="950">
                    <a:solidFill>
                      <a:srgbClr val="60A5F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execute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(V_SQLInsert)</a:t>
                </a:r>
                <a:endParaRPr b="0" sz="9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    </a:t>
                </a:r>
                <a:r>
                  <a:rPr b="0" lang="en-IN" sz="950">
                    <a:solidFill>
                      <a:srgbClr val="60A5F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print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</a:t>
                </a:r>
                <a:r>
                  <a:rPr b="0" lang="en-IN" sz="9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'Account Created Successfully!'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</a:t>
                </a:r>
                <a:endParaRPr b="0" sz="9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    conn.</a:t>
                </a:r>
                <a:r>
                  <a:rPr b="0" lang="en-IN" sz="950">
                    <a:solidFill>
                      <a:srgbClr val="60A5F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commit</a:t>
                </a:r>
                <a:r>
                  <a:rPr b="0" lang="en-IN" sz="9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()</a:t>
                </a:r>
                <a:endParaRPr b="0" sz="9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251" name="Google Shape;251;p4"/>
          <p:cNvGrpSpPr/>
          <p:nvPr/>
        </p:nvGrpSpPr>
        <p:grpSpPr>
          <a:xfrm>
            <a:off x="6000750" y="1428750"/>
            <a:ext cx="2571900" cy="1467000"/>
            <a:chOff x="0" y="0"/>
            <a:chExt cx="2571900" cy="1467000"/>
          </a:xfrm>
        </p:grpSpPr>
        <p:sp>
          <p:nvSpPr>
            <p:cNvPr id="252" name="Google Shape;252;p4"/>
            <p:cNvSpPr/>
            <p:nvPr/>
          </p:nvSpPr>
          <p:spPr>
            <a:xfrm>
              <a:off x="0" y="0"/>
              <a:ext cx="2571900" cy="1467000"/>
            </a:xfrm>
            <a:prstGeom prst="roundRect">
              <a:avLst>
                <a:gd fmla="val 909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190500" y="171450"/>
              <a:ext cx="362100" cy="362100"/>
            </a:xfrm>
            <a:prstGeom prst="roundRect">
              <a:avLst>
                <a:gd fmla="val 26315" name="adj"/>
              </a:avLst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4" name="Google Shape;254;p4"/>
            <p:cNvGrpSpPr/>
            <p:nvPr/>
          </p:nvGrpSpPr>
          <p:grpSpPr>
            <a:xfrm>
              <a:off x="190500" y="197739"/>
              <a:ext cx="362100" cy="388389"/>
              <a:chOff x="0" y="0"/>
              <a:chExt cx="362100" cy="388389"/>
            </a:xfrm>
          </p:grpSpPr>
          <p:sp>
            <p:nvSpPr>
              <p:cNvPr id="255" name="Google Shape;255;p4"/>
              <p:cNvSpPr/>
              <p:nvPr/>
            </p:nvSpPr>
            <p:spPr>
              <a:xfrm>
                <a:off x="0" y="0"/>
                <a:ext cx="362100" cy="3621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4"/>
              <p:cNvSpPr txBox="1"/>
              <p:nvPr/>
            </p:nvSpPr>
            <p:spPr>
              <a:xfrm>
                <a:off x="0" y="26289"/>
                <a:ext cx="3621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IN" sz="1800">
                    <a:solidFill>
                      <a:srgbClr val="0284C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list_alt</a:t>
                </a:r>
                <a:endParaRPr b="0" sz="1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grpSp>
          <p:nvGrpSpPr>
            <p:cNvPr id="257" name="Google Shape;257;p4"/>
            <p:cNvGrpSpPr/>
            <p:nvPr/>
          </p:nvGrpSpPr>
          <p:grpSpPr>
            <a:xfrm>
              <a:off x="190500" y="609600"/>
              <a:ext cx="2190900" cy="723900"/>
              <a:chOff x="0" y="0"/>
              <a:chExt cx="2190900" cy="723900"/>
            </a:xfrm>
          </p:grpSpPr>
          <p:sp>
            <p:nvSpPr>
              <p:cNvPr id="258" name="Google Shape;258;p4"/>
              <p:cNvSpPr/>
              <p:nvPr/>
            </p:nvSpPr>
            <p:spPr>
              <a:xfrm>
                <a:off x="0" y="0"/>
                <a:ext cx="2190900" cy="723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4"/>
              <p:cNvSpPr txBox="1"/>
              <p:nvPr/>
            </p:nvSpPr>
            <p:spPr>
              <a:xfrm>
                <a:off x="0" y="0"/>
                <a:ext cx="21909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800">
                    <a:solidFill>
                      <a:srgbClr val="0284C7"/>
                    </a:solidFill>
                    <a:latin typeface="Inter"/>
                    <a:ea typeface="Inter"/>
                    <a:cs typeface="Inter"/>
                    <a:sym typeface="Inter"/>
                  </a:rPr>
                  <a:t>STEP 01</a:t>
                </a:r>
                <a:endParaRPr b="1" sz="8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IN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Menu Selection</a:t>
                </a:r>
                <a:endParaRPr b="1" sz="8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IN" sz="9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Displays interactive options to user and prompts for module choice.</a:t>
                </a:r>
                <a:endParaRPr b="1" sz="8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60" name="Google Shape;260;p4"/>
          <p:cNvGrpSpPr/>
          <p:nvPr/>
        </p:nvGrpSpPr>
        <p:grpSpPr>
          <a:xfrm>
            <a:off x="6000750" y="3124200"/>
            <a:ext cx="2571900" cy="1467000"/>
            <a:chOff x="0" y="0"/>
            <a:chExt cx="2571900" cy="1467000"/>
          </a:xfrm>
        </p:grpSpPr>
        <p:sp>
          <p:nvSpPr>
            <p:cNvPr id="261" name="Google Shape;261;p4"/>
            <p:cNvSpPr/>
            <p:nvPr/>
          </p:nvSpPr>
          <p:spPr>
            <a:xfrm>
              <a:off x="0" y="0"/>
              <a:ext cx="2571900" cy="1467000"/>
            </a:xfrm>
            <a:prstGeom prst="roundRect">
              <a:avLst>
                <a:gd fmla="val 909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190500" y="171450"/>
              <a:ext cx="362100" cy="362100"/>
            </a:xfrm>
            <a:prstGeom prst="roundRect">
              <a:avLst>
                <a:gd fmla="val 26315" name="adj"/>
              </a:avLst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3" name="Google Shape;263;p4"/>
            <p:cNvGrpSpPr/>
            <p:nvPr/>
          </p:nvGrpSpPr>
          <p:grpSpPr>
            <a:xfrm>
              <a:off x="190500" y="197739"/>
              <a:ext cx="362100" cy="388389"/>
              <a:chOff x="0" y="0"/>
              <a:chExt cx="362100" cy="388389"/>
            </a:xfrm>
          </p:grpSpPr>
          <p:sp>
            <p:nvSpPr>
              <p:cNvPr id="264" name="Google Shape;264;p4"/>
              <p:cNvSpPr/>
              <p:nvPr/>
            </p:nvSpPr>
            <p:spPr>
              <a:xfrm>
                <a:off x="0" y="0"/>
                <a:ext cx="362100" cy="3621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4"/>
              <p:cNvSpPr txBox="1"/>
              <p:nvPr/>
            </p:nvSpPr>
            <p:spPr>
              <a:xfrm>
                <a:off x="0" y="26289"/>
                <a:ext cx="3621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IN" sz="1800">
                    <a:solidFill>
                      <a:srgbClr val="0284C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person_add</a:t>
                </a:r>
                <a:endParaRPr b="0" sz="1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grpSp>
          <p:nvGrpSpPr>
            <p:cNvPr id="266" name="Google Shape;266;p4"/>
            <p:cNvGrpSpPr/>
            <p:nvPr/>
          </p:nvGrpSpPr>
          <p:grpSpPr>
            <a:xfrm>
              <a:off x="190500" y="609600"/>
              <a:ext cx="2190900" cy="723900"/>
              <a:chOff x="0" y="0"/>
              <a:chExt cx="2190900" cy="723900"/>
            </a:xfrm>
          </p:grpSpPr>
          <p:sp>
            <p:nvSpPr>
              <p:cNvPr id="267" name="Google Shape;267;p4"/>
              <p:cNvSpPr/>
              <p:nvPr/>
            </p:nvSpPr>
            <p:spPr>
              <a:xfrm>
                <a:off x="0" y="0"/>
                <a:ext cx="2190900" cy="723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4"/>
              <p:cNvSpPr txBox="1"/>
              <p:nvPr/>
            </p:nvSpPr>
            <p:spPr>
              <a:xfrm>
                <a:off x="0" y="0"/>
                <a:ext cx="21909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800">
                    <a:solidFill>
                      <a:srgbClr val="0284C7"/>
                    </a:solidFill>
                    <a:latin typeface="Inter"/>
                    <a:ea typeface="Inter"/>
                    <a:cs typeface="Inter"/>
                    <a:sym typeface="Inter"/>
                  </a:rPr>
                  <a:t>STEP 02</a:t>
                </a:r>
                <a:endParaRPr b="1" sz="8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IN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Customer Data Entry</a:t>
                </a:r>
                <a:endParaRPr b="1" sz="8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IN" sz="9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Gathers account number, name, phone, address, and initial deposit amount.</a:t>
                </a:r>
                <a:endParaRPr b="1" sz="8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69" name="Google Shape;269;p4"/>
          <p:cNvGrpSpPr/>
          <p:nvPr/>
        </p:nvGrpSpPr>
        <p:grpSpPr>
          <a:xfrm>
            <a:off x="6000750" y="4819650"/>
            <a:ext cx="2571900" cy="1467000"/>
            <a:chOff x="0" y="0"/>
            <a:chExt cx="2571900" cy="1467000"/>
          </a:xfrm>
        </p:grpSpPr>
        <p:sp>
          <p:nvSpPr>
            <p:cNvPr id="270" name="Google Shape;270;p4"/>
            <p:cNvSpPr/>
            <p:nvPr/>
          </p:nvSpPr>
          <p:spPr>
            <a:xfrm>
              <a:off x="0" y="0"/>
              <a:ext cx="2571900" cy="1467000"/>
            </a:xfrm>
            <a:prstGeom prst="roundRect">
              <a:avLst>
                <a:gd fmla="val 9090" name="adj"/>
              </a:avLst>
            </a:prstGeom>
            <a:solidFill>
              <a:srgbClr val="FFFFFF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4"/>
            <p:cNvSpPr/>
            <p:nvPr/>
          </p:nvSpPr>
          <p:spPr>
            <a:xfrm>
              <a:off x="190500" y="171450"/>
              <a:ext cx="362100" cy="362100"/>
            </a:xfrm>
            <a:prstGeom prst="roundRect">
              <a:avLst>
                <a:gd fmla="val 26315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2" name="Google Shape;272;p4"/>
            <p:cNvGrpSpPr/>
            <p:nvPr/>
          </p:nvGrpSpPr>
          <p:grpSpPr>
            <a:xfrm>
              <a:off x="190500" y="197739"/>
              <a:ext cx="362100" cy="388389"/>
              <a:chOff x="0" y="0"/>
              <a:chExt cx="362100" cy="388389"/>
            </a:xfrm>
          </p:grpSpPr>
          <p:sp>
            <p:nvSpPr>
              <p:cNvPr id="273" name="Google Shape;273;p4"/>
              <p:cNvSpPr/>
              <p:nvPr/>
            </p:nvSpPr>
            <p:spPr>
              <a:xfrm>
                <a:off x="0" y="0"/>
                <a:ext cx="362100" cy="3621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4"/>
              <p:cNvSpPr txBox="1"/>
              <p:nvPr/>
            </p:nvSpPr>
            <p:spPr>
              <a:xfrm>
                <a:off x="0" y="26289"/>
                <a:ext cx="3621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IN" sz="180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add_task</a:t>
                </a:r>
                <a:endParaRPr b="0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grpSp>
          <p:nvGrpSpPr>
            <p:cNvPr id="275" name="Google Shape;275;p4"/>
            <p:cNvGrpSpPr/>
            <p:nvPr/>
          </p:nvGrpSpPr>
          <p:grpSpPr>
            <a:xfrm>
              <a:off x="190500" y="609600"/>
              <a:ext cx="2190900" cy="723900"/>
              <a:chOff x="0" y="0"/>
              <a:chExt cx="2190900" cy="723900"/>
            </a:xfrm>
          </p:grpSpPr>
          <p:sp>
            <p:nvSpPr>
              <p:cNvPr id="276" name="Google Shape;276;p4"/>
              <p:cNvSpPr/>
              <p:nvPr/>
            </p:nvSpPr>
            <p:spPr>
              <a:xfrm>
                <a:off x="0" y="0"/>
                <a:ext cx="2190900" cy="723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4"/>
              <p:cNvSpPr txBox="1"/>
              <p:nvPr/>
            </p:nvSpPr>
            <p:spPr>
              <a:xfrm>
                <a:off x="0" y="0"/>
                <a:ext cx="21909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740">
                    <a:solidFill>
                      <a:srgbClr val="0284C7"/>
                    </a:solidFill>
                    <a:latin typeface="Inter"/>
                    <a:ea typeface="Inter"/>
                    <a:cs typeface="Inter"/>
                    <a:sym typeface="Inter"/>
                  </a:rPr>
                  <a:t>STEP 03</a:t>
                </a:r>
                <a:endParaRPr b="1" sz="74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IN" sz="1018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Record Insertion</a:t>
                </a:r>
                <a:endParaRPr b="1" sz="74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IN" sz="833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Executes SQL insert statement and commits transaction to MySQL database.</a:t>
                </a:r>
                <a:endParaRPr b="1" sz="74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h532960c06e006a8c_0_1745"/>
          <p:cNvGrpSpPr/>
          <p:nvPr/>
        </p:nvGrpSpPr>
        <p:grpSpPr>
          <a:xfrm>
            <a:off x="571500" y="428625"/>
            <a:ext cx="7848600" cy="762000"/>
            <a:chOff x="0" y="0"/>
            <a:chExt cx="7848600" cy="762000"/>
          </a:xfrm>
        </p:grpSpPr>
        <p:sp>
          <p:nvSpPr>
            <p:cNvPr id="283" name="Google Shape;283;h532960c06e006a8c_0_1745"/>
            <p:cNvSpPr/>
            <p:nvPr/>
          </p:nvSpPr>
          <p:spPr>
            <a:xfrm>
              <a:off x="0" y="0"/>
              <a:ext cx="47700" cy="7620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284C7"/>
                </a:gs>
                <a:gs pos="100000">
                  <a:srgbClr val="0369A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h532960c06e006a8c_0_1745"/>
            <p:cNvSpPr txBox="1"/>
            <p:nvPr/>
          </p:nvSpPr>
          <p:spPr>
            <a:xfrm>
              <a:off x="228600" y="0"/>
              <a:ext cx="7620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0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APPLICATION EXECUTION</a:t>
              </a:r>
              <a:endParaRPr b="1" sz="10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PYTHON SHELL OUTPUT</a:t>
              </a:r>
              <a:endParaRPr b="1" sz="10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-IN" sz="97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Interactive user login session and terminal interface for Stark Bank management</a:t>
              </a:r>
              <a:endParaRPr b="1" sz="97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5" name="Google Shape;285;h532960c06e006a8c_0_1745"/>
          <p:cNvGrpSpPr/>
          <p:nvPr/>
        </p:nvGrpSpPr>
        <p:grpSpPr>
          <a:xfrm>
            <a:off x="571500" y="1428750"/>
            <a:ext cx="5238900" cy="4857900"/>
            <a:chOff x="0" y="0"/>
            <a:chExt cx="5238900" cy="4857900"/>
          </a:xfrm>
        </p:grpSpPr>
        <p:sp>
          <p:nvSpPr>
            <p:cNvPr id="286" name="Google Shape;286;h532960c06e006a8c_0_1745"/>
            <p:cNvSpPr/>
            <p:nvPr/>
          </p:nvSpPr>
          <p:spPr>
            <a:xfrm>
              <a:off x="0" y="0"/>
              <a:ext cx="5238900" cy="4857900"/>
            </a:xfrm>
            <a:prstGeom prst="roundRect">
              <a:avLst>
                <a:gd fmla="val 2744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7" name="Google Shape;287;h532960c06e006a8c_0_1745"/>
            <p:cNvCxnSpPr/>
            <p:nvPr/>
          </p:nvCxnSpPr>
          <p:spPr>
            <a:xfrm>
              <a:off x="0" y="400050"/>
              <a:ext cx="5238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8" name="Google Shape;288;h532960c06e006a8c_0_1745"/>
            <p:cNvSpPr/>
            <p:nvPr/>
          </p:nvSpPr>
          <p:spPr>
            <a:xfrm>
              <a:off x="180975" y="152400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h532960c06e006a8c_0_1745"/>
            <p:cNvSpPr/>
            <p:nvPr/>
          </p:nvSpPr>
          <p:spPr>
            <a:xfrm>
              <a:off x="333375" y="152400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h532960c06e006a8c_0_1745"/>
            <p:cNvSpPr/>
            <p:nvPr/>
          </p:nvSpPr>
          <p:spPr>
            <a:xfrm>
              <a:off x="485775" y="152400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h532960c06e006a8c_0_1745"/>
            <p:cNvSpPr txBox="1"/>
            <p:nvPr/>
          </p:nvSpPr>
          <p:spPr>
            <a:xfrm>
              <a:off x="723900" y="95250"/>
              <a:ext cx="28575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IN" sz="90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python_shell_output.py</a:t>
              </a:r>
              <a:endParaRPr b="0" sz="9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92" name="Google Shape;292;h532960c06e006a8c_0_1745"/>
            <p:cNvSpPr/>
            <p:nvPr/>
          </p:nvSpPr>
          <p:spPr>
            <a:xfrm>
              <a:off x="114300" y="457200"/>
              <a:ext cx="5010300" cy="428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h532960c06e006a8c_0_1745"/>
            <p:cNvSpPr txBox="1"/>
            <p:nvPr/>
          </p:nvSpPr>
          <p:spPr>
            <a:xfrm>
              <a:off x="228600" y="552450"/>
              <a:ext cx="4781700" cy="411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IN" sz="115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Python 3.7.0rc1 Shell</a:t>
              </a:r>
              <a:endParaRPr sz="11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IN" sz="115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====== RESTART: C:\Python37\source_code\main_bank.py =====</a:t>
              </a:r>
              <a:endParaRPr sz="11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IN" sz="115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============== WELCOME TO STARK BANK ==============</a:t>
              </a:r>
              <a:endParaRPr b="1" sz="11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IN" sz="115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2026-10-26 10:34:27</a:t>
              </a:r>
              <a:endParaRPr sz="11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IN" sz="115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1. REGISTER</a:t>
              </a:r>
              <a:endParaRPr sz="11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IN" sz="115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2. LOGIN</a:t>
              </a:r>
              <a:endParaRPr sz="11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IN" sz="115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Enter your choice = </a:t>
              </a:r>
              <a:r>
                <a:rPr b="1" lang="en-IN" sz="115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</a:t>
              </a:r>
              <a:endParaRPr sz="11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IN" sz="115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Enter your Username = </a:t>
              </a:r>
              <a:r>
                <a:rPr b="1" lang="en-IN" sz="115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arya</a:t>
              </a:r>
              <a:endParaRPr sz="11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IN" sz="115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Enter your 4 DIGIT Password = </a:t>
              </a:r>
              <a:r>
                <a:rPr b="1" lang="en-IN" sz="115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****</a:t>
              </a:r>
              <a:endParaRPr sz="11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4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IN" sz="115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 Authentication Successful! Loading Dashboard...</a:t>
              </a:r>
              <a:endParaRPr sz="11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94" name="Google Shape;294;h532960c06e006a8c_0_1745"/>
          <p:cNvGrpSpPr/>
          <p:nvPr/>
        </p:nvGrpSpPr>
        <p:grpSpPr>
          <a:xfrm>
            <a:off x="6000750" y="1428750"/>
            <a:ext cx="2571900" cy="1467000"/>
            <a:chOff x="0" y="0"/>
            <a:chExt cx="2571900" cy="1467000"/>
          </a:xfrm>
        </p:grpSpPr>
        <p:sp>
          <p:nvSpPr>
            <p:cNvPr id="295" name="Google Shape;295;h532960c06e006a8c_0_1745"/>
            <p:cNvSpPr/>
            <p:nvPr/>
          </p:nvSpPr>
          <p:spPr>
            <a:xfrm>
              <a:off x="0" y="0"/>
              <a:ext cx="2571900" cy="1467000"/>
            </a:xfrm>
            <a:prstGeom prst="roundRect">
              <a:avLst>
                <a:gd fmla="val 908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h532960c06e006a8c_0_1745"/>
            <p:cNvSpPr/>
            <p:nvPr/>
          </p:nvSpPr>
          <p:spPr>
            <a:xfrm>
              <a:off x="190500" y="171450"/>
              <a:ext cx="362100" cy="362100"/>
            </a:xfrm>
            <a:prstGeom prst="roundRect">
              <a:avLst>
                <a:gd fmla="val 26314" name="adj"/>
              </a:avLst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h532960c06e006a8c_0_1745"/>
            <p:cNvSpPr txBox="1"/>
            <p:nvPr/>
          </p:nvSpPr>
          <p:spPr>
            <a:xfrm>
              <a:off x="190500" y="224028"/>
              <a:ext cx="362100" cy="362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</a:t>
              </a:r>
              <a:endParaRPr sz="18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98" name="Google Shape;298;h532960c06e006a8c_0_1745"/>
            <p:cNvSpPr txBox="1"/>
            <p:nvPr/>
          </p:nvSpPr>
          <p:spPr>
            <a:xfrm>
              <a:off x="190500" y="609600"/>
              <a:ext cx="2190900" cy="72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74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STEP 01</a:t>
              </a:r>
              <a:endParaRPr b="1" sz="74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IN" sz="1018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Shell Initialization</a:t>
              </a:r>
              <a:endParaRPr b="1" sz="74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150"/>
                </a:spcAft>
                <a:buNone/>
              </a:pPr>
              <a:r>
                <a:rPr b="0" lang="en-IN" sz="83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Launches main bank Python program and prints welcome banner with timestamp.</a:t>
              </a:r>
              <a:endParaRPr b="1" sz="74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9" name="Google Shape;299;h532960c06e006a8c_0_1745"/>
          <p:cNvGrpSpPr/>
          <p:nvPr/>
        </p:nvGrpSpPr>
        <p:grpSpPr>
          <a:xfrm>
            <a:off x="6000750" y="3124200"/>
            <a:ext cx="2571900" cy="1467000"/>
            <a:chOff x="0" y="0"/>
            <a:chExt cx="2571900" cy="1467000"/>
          </a:xfrm>
        </p:grpSpPr>
        <p:sp>
          <p:nvSpPr>
            <p:cNvPr id="300" name="Google Shape;300;h532960c06e006a8c_0_1745"/>
            <p:cNvSpPr/>
            <p:nvPr/>
          </p:nvSpPr>
          <p:spPr>
            <a:xfrm>
              <a:off x="0" y="0"/>
              <a:ext cx="2571900" cy="1467000"/>
            </a:xfrm>
            <a:prstGeom prst="roundRect">
              <a:avLst>
                <a:gd fmla="val 908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h532960c06e006a8c_0_1745"/>
            <p:cNvSpPr/>
            <p:nvPr/>
          </p:nvSpPr>
          <p:spPr>
            <a:xfrm>
              <a:off x="190500" y="171450"/>
              <a:ext cx="362100" cy="362100"/>
            </a:xfrm>
            <a:prstGeom prst="roundRect">
              <a:avLst>
                <a:gd fmla="val 26314" name="adj"/>
              </a:avLst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h532960c06e006a8c_0_1745"/>
            <p:cNvSpPr txBox="1"/>
            <p:nvPr/>
          </p:nvSpPr>
          <p:spPr>
            <a:xfrm>
              <a:off x="190500" y="224028"/>
              <a:ext cx="362100" cy="362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login</a:t>
              </a:r>
              <a:endParaRPr sz="18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3" name="Google Shape;303;h532960c06e006a8c_0_1745"/>
            <p:cNvSpPr txBox="1"/>
            <p:nvPr/>
          </p:nvSpPr>
          <p:spPr>
            <a:xfrm>
              <a:off x="190500" y="609600"/>
              <a:ext cx="2190900" cy="72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74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STEP 02</a:t>
              </a:r>
              <a:endParaRPr b="1" sz="74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IN" sz="1018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Option Selection</a:t>
              </a:r>
              <a:endParaRPr b="1" sz="74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150"/>
                </a:spcAft>
                <a:buNone/>
              </a:pPr>
              <a:r>
                <a:rPr b="0" lang="en-IN" sz="83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Prompts user for menu choice and navigates to registered user authentication.</a:t>
              </a:r>
              <a:endParaRPr b="1" sz="74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4" name="Google Shape;304;h532960c06e006a8c_0_1745"/>
          <p:cNvGrpSpPr/>
          <p:nvPr/>
        </p:nvGrpSpPr>
        <p:grpSpPr>
          <a:xfrm>
            <a:off x="6000750" y="4819650"/>
            <a:ext cx="2571900" cy="1467000"/>
            <a:chOff x="0" y="0"/>
            <a:chExt cx="2571900" cy="1467000"/>
          </a:xfrm>
        </p:grpSpPr>
        <p:sp>
          <p:nvSpPr>
            <p:cNvPr id="305" name="Google Shape;305;h532960c06e006a8c_0_1745"/>
            <p:cNvSpPr/>
            <p:nvPr/>
          </p:nvSpPr>
          <p:spPr>
            <a:xfrm>
              <a:off x="0" y="0"/>
              <a:ext cx="2571900" cy="1467000"/>
            </a:xfrm>
            <a:prstGeom prst="roundRect">
              <a:avLst>
                <a:gd fmla="val 9089" name="adj"/>
              </a:avLst>
            </a:prstGeom>
            <a:solidFill>
              <a:srgbClr val="FFFFFF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h532960c06e006a8c_0_1745"/>
            <p:cNvSpPr/>
            <p:nvPr/>
          </p:nvSpPr>
          <p:spPr>
            <a:xfrm>
              <a:off x="190500" y="171450"/>
              <a:ext cx="362100" cy="362100"/>
            </a:xfrm>
            <a:prstGeom prst="roundRect">
              <a:avLst>
                <a:gd fmla="val 26314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h532960c06e006a8c_0_1745"/>
            <p:cNvSpPr txBox="1"/>
            <p:nvPr/>
          </p:nvSpPr>
          <p:spPr>
            <a:xfrm>
              <a:off x="190500" y="224028"/>
              <a:ext cx="362100" cy="362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lock_person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8" name="Google Shape;308;h532960c06e006a8c_0_1745"/>
            <p:cNvSpPr txBox="1"/>
            <p:nvPr/>
          </p:nvSpPr>
          <p:spPr>
            <a:xfrm>
              <a:off x="190500" y="609600"/>
              <a:ext cx="2190900" cy="72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74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STEP 03</a:t>
              </a:r>
              <a:endParaRPr b="1" sz="74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IN" sz="1018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Credential Verification</a:t>
              </a:r>
              <a:endParaRPr b="1" sz="74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150"/>
                </a:spcAft>
                <a:buNone/>
              </a:pPr>
              <a:r>
                <a:rPr b="0" lang="en-IN" sz="83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Collects username and 4-digit PIN to authenticate user credentials against database.</a:t>
              </a:r>
              <a:endParaRPr b="1" sz="74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6"/>
          <p:cNvGrpSpPr/>
          <p:nvPr/>
        </p:nvGrpSpPr>
        <p:grpSpPr>
          <a:xfrm>
            <a:off x="571500" y="428625"/>
            <a:ext cx="7848600" cy="762000"/>
            <a:chOff x="0" y="0"/>
            <a:chExt cx="7848600" cy="762000"/>
          </a:xfrm>
        </p:grpSpPr>
        <p:sp>
          <p:nvSpPr>
            <p:cNvPr id="314" name="Google Shape;314;p6"/>
            <p:cNvSpPr/>
            <p:nvPr/>
          </p:nvSpPr>
          <p:spPr>
            <a:xfrm>
              <a:off x="0" y="0"/>
              <a:ext cx="47700" cy="7620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284C7"/>
                </a:gs>
                <a:gs pos="100000">
                  <a:srgbClr val="0369A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6"/>
            <p:cNvSpPr txBox="1"/>
            <p:nvPr/>
          </p:nvSpPr>
          <p:spPr>
            <a:xfrm>
              <a:off x="2286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0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APPLICATION EXECUTION</a:t>
              </a:r>
              <a:endParaRPr b="1" sz="10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PYTHON SHELL OUTPUT</a:t>
              </a:r>
              <a:endParaRPr b="1" sz="10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97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Interactive user login session and main dashboard menu interface for Stark Bank</a:t>
              </a:r>
              <a:endParaRPr b="0" sz="97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6" name="Google Shape;316;p6"/>
          <p:cNvGrpSpPr/>
          <p:nvPr/>
        </p:nvGrpSpPr>
        <p:grpSpPr>
          <a:xfrm>
            <a:off x="571500" y="1428750"/>
            <a:ext cx="5238900" cy="4857900"/>
            <a:chOff x="0" y="0"/>
            <a:chExt cx="5238900" cy="4857900"/>
          </a:xfrm>
        </p:grpSpPr>
        <p:sp>
          <p:nvSpPr>
            <p:cNvPr id="317" name="Google Shape;317;p6"/>
            <p:cNvSpPr/>
            <p:nvPr/>
          </p:nvSpPr>
          <p:spPr>
            <a:xfrm>
              <a:off x="0" y="0"/>
              <a:ext cx="5238900" cy="4857900"/>
            </a:xfrm>
            <a:prstGeom prst="roundRect">
              <a:avLst>
                <a:gd fmla="val 2745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18" name="Google Shape;318;p6"/>
            <p:cNvCxnSpPr/>
            <p:nvPr/>
          </p:nvCxnSpPr>
          <p:spPr>
            <a:xfrm>
              <a:off x="0" y="400050"/>
              <a:ext cx="5238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9" name="Google Shape;319;p6"/>
            <p:cNvSpPr/>
            <p:nvPr/>
          </p:nvSpPr>
          <p:spPr>
            <a:xfrm>
              <a:off x="180975" y="152400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6"/>
            <p:cNvSpPr/>
            <p:nvPr/>
          </p:nvSpPr>
          <p:spPr>
            <a:xfrm>
              <a:off x="333375" y="152400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6"/>
            <p:cNvSpPr/>
            <p:nvPr/>
          </p:nvSpPr>
          <p:spPr>
            <a:xfrm>
              <a:off x="485775" y="152400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6"/>
            <p:cNvSpPr txBox="1"/>
            <p:nvPr/>
          </p:nvSpPr>
          <p:spPr>
            <a:xfrm>
              <a:off x="723900" y="95250"/>
              <a:ext cx="285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IN" sz="90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python_shell_output.py</a:t>
              </a:r>
              <a:endParaRPr b="0" sz="9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23" name="Google Shape;323;p6"/>
            <p:cNvSpPr/>
            <p:nvPr/>
          </p:nvSpPr>
          <p:spPr>
            <a:xfrm>
              <a:off x="114300" y="457200"/>
              <a:ext cx="5010300" cy="4286400"/>
            </a:xfrm>
            <a:prstGeom prst="roundRect">
              <a:avLst>
                <a:gd fmla="val 888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6"/>
            <p:cNvSpPr txBox="1"/>
            <p:nvPr/>
          </p:nvSpPr>
          <p:spPr>
            <a:xfrm>
              <a:off x="228600" y="552450"/>
              <a:ext cx="47817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IN" sz="1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Python 3.7.0rc1 Shell</a:t>
              </a:r>
              <a:endParaRPr b="0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1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====== RESTART: C:\Python37\source_code\main_bank.py =====</a:t>
              </a:r>
              <a:endParaRPr b="0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IN" sz="1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====================== WELCOME TO STARK BANK ======================</a:t>
              </a:r>
              <a:endParaRPr b="1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1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2020-01-01 10:38:14.014927</a:t>
              </a:r>
              <a:endParaRPr b="0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1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1.REGISTER</a:t>
              </a:r>
              <a:endParaRPr b="0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1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2.LOGIN</a:t>
              </a:r>
              <a:endParaRPr b="0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1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enter your choice=</a:t>
              </a:r>
              <a:r>
                <a:rPr b="1" lang="en-IN" sz="1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</a:t>
              </a:r>
              <a:endParaRPr b="0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1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Enter your Username=</a:t>
              </a:r>
              <a:r>
                <a:rPr b="1" lang="en-IN" sz="1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riddhiman</a:t>
              </a:r>
              <a:endParaRPr b="0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1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Enter your 4 DIGIT Password=</a:t>
              </a:r>
              <a:r>
                <a:rPr b="1" lang="en-IN" sz="1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1298</a:t>
              </a:r>
              <a:endParaRPr b="0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IN" sz="1000">
                  <a:solidFill>
                    <a:srgbClr val="0284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 Authentication Successful! Loading Dashboard...</a:t>
              </a:r>
              <a:endParaRPr b="1" sz="1000">
                <a:solidFill>
                  <a:srgbClr val="0284C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IN" sz="1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1.CREATE BANK ACCOUNT</a:t>
              </a:r>
              <a:endParaRPr b="0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1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2.TRANSACTION</a:t>
              </a:r>
              <a:endParaRPr b="0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1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3.CUSTOMER DETAILS</a:t>
              </a:r>
              <a:endParaRPr b="0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1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4.TRANSACTION DETAILS</a:t>
              </a:r>
              <a:endParaRPr b="0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1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5.DELETE ACCOUNT</a:t>
              </a:r>
              <a:endParaRPr b="0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1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6.QUIT</a:t>
              </a:r>
              <a:endParaRPr b="0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-IN" sz="1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Enter your CHOICE=</a:t>
              </a:r>
              <a:r>
                <a:rPr b="1" lang="en-IN" sz="1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|</a:t>
              </a:r>
              <a:endParaRPr b="0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25" name="Google Shape;325;p6"/>
          <p:cNvGrpSpPr/>
          <p:nvPr/>
        </p:nvGrpSpPr>
        <p:grpSpPr>
          <a:xfrm>
            <a:off x="6000750" y="1428750"/>
            <a:ext cx="2571900" cy="1467000"/>
            <a:chOff x="0" y="0"/>
            <a:chExt cx="2571900" cy="1467000"/>
          </a:xfrm>
        </p:grpSpPr>
        <p:sp>
          <p:nvSpPr>
            <p:cNvPr id="326" name="Google Shape;326;p6"/>
            <p:cNvSpPr/>
            <p:nvPr/>
          </p:nvSpPr>
          <p:spPr>
            <a:xfrm>
              <a:off x="0" y="0"/>
              <a:ext cx="2571900" cy="1467000"/>
            </a:xfrm>
            <a:prstGeom prst="roundRect">
              <a:avLst>
                <a:gd fmla="val 909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6"/>
            <p:cNvSpPr/>
            <p:nvPr/>
          </p:nvSpPr>
          <p:spPr>
            <a:xfrm>
              <a:off x="190500" y="171450"/>
              <a:ext cx="362100" cy="362100"/>
            </a:xfrm>
            <a:prstGeom prst="roundRect">
              <a:avLst>
                <a:gd fmla="val 26315" name="adj"/>
              </a:avLst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6"/>
            <p:cNvSpPr txBox="1"/>
            <p:nvPr/>
          </p:nvSpPr>
          <p:spPr>
            <a:xfrm>
              <a:off x="190500" y="197739"/>
              <a:ext cx="3621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login</a:t>
              </a:r>
              <a:endParaRPr sz="18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29" name="Google Shape;329;p6"/>
            <p:cNvSpPr txBox="1"/>
            <p:nvPr/>
          </p:nvSpPr>
          <p:spPr>
            <a:xfrm>
              <a:off x="190500" y="609600"/>
              <a:ext cx="21909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74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STEP 01</a:t>
              </a:r>
              <a:endParaRPr b="1" sz="74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IN" sz="1018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User Authentication</a:t>
              </a:r>
              <a:endParaRPr b="1" sz="1018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83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Authenticates credentials for user 'riddhiman' using PIN verification.</a:t>
              </a:r>
              <a:endParaRPr b="0" sz="833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0" name="Google Shape;330;p6"/>
          <p:cNvGrpSpPr/>
          <p:nvPr/>
        </p:nvGrpSpPr>
        <p:grpSpPr>
          <a:xfrm>
            <a:off x="6000750" y="3124200"/>
            <a:ext cx="2571900" cy="1467000"/>
            <a:chOff x="0" y="0"/>
            <a:chExt cx="2571900" cy="1467000"/>
          </a:xfrm>
        </p:grpSpPr>
        <p:sp>
          <p:nvSpPr>
            <p:cNvPr id="331" name="Google Shape;331;p6"/>
            <p:cNvSpPr/>
            <p:nvPr/>
          </p:nvSpPr>
          <p:spPr>
            <a:xfrm>
              <a:off x="0" y="0"/>
              <a:ext cx="2571900" cy="1467000"/>
            </a:xfrm>
            <a:prstGeom prst="roundRect">
              <a:avLst>
                <a:gd fmla="val 909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6"/>
            <p:cNvSpPr/>
            <p:nvPr/>
          </p:nvSpPr>
          <p:spPr>
            <a:xfrm>
              <a:off x="190500" y="171450"/>
              <a:ext cx="362100" cy="362100"/>
            </a:xfrm>
            <a:prstGeom prst="roundRect">
              <a:avLst>
                <a:gd fmla="val 26315" name="adj"/>
              </a:avLst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6"/>
            <p:cNvSpPr txBox="1"/>
            <p:nvPr/>
          </p:nvSpPr>
          <p:spPr>
            <a:xfrm>
              <a:off x="190500" y="197739"/>
              <a:ext cx="3621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dashboard</a:t>
              </a:r>
              <a:endParaRPr sz="18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34" name="Google Shape;334;p6"/>
            <p:cNvSpPr txBox="1"/>
            <p:nvPr/>
          </p:nvSpPr>
          <p:spPr>
            <a:xfrm>
              <a:off x="190500" y="609600"/>
              <a:ext cx="21909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74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STEP 02</a:t>
              </a:r>
              <a:endParaRPr b="1" sz="74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IN" sz="1018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Dashboard Display</a:t>
              </a:r>
              <a:endParaRPr b="1" sz="1018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83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Loads main menu options including accounts, transactions, and details.</a:t>
              </a:r>
              <a:endParaRPr b="0" sz="833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5" name="Google Shape;335;p6"/>
          <p:cNvGrpSpPr/>
          <p:nvPr/>
        </p:nvGrpSpPr>
        <p:grpSpPr>
          <a:xfrm>
            <a:off x="6000750" y="4819650"/>
            <a:ext cx="2571900" cy="1467000"/>
            <a:chOff x="0" y="0"/>
            <a:chExt cx="2571900" cy="1467000"/>
          </a:xfrm>
        </p:grpSpPr>
        <p:sp>
          <p:nvSpPr>
            <p:cNvPr id="336" name="Google Shape;336;p6"/>
            <p:cNvSpPr/>
            <p:nvPr/>
          </p:nvSpPr>
          <p:spPr>
            <a:xfrm>
              <a:off x="0" y="0"/>
              <a:ext cx="2571900" cy="1467000"/>
            </a:xfrm>
            <a:prstGeom prst="roundRect">
              <a:avLst>
                <a:gd fmla="val 9090" name="adj"/>
              </a:avLst>
            </a:prstGeom>
            <a:solidFill>
              <a:srgbClr val="FFFFFF"/>
            </a:solidFill>
            <a:ln cap="flat" cmpd="sng" w="1430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6"/>
            <p:cNvSpPr/>
            <p:nvPr/>
          </p:nvSpPr>
          <p:spPr>
            <a:xfrm>
              <a:off x="190500" y="171450"/>
              <a:ext cx="362100" cy="362100"/>
            </a:xfrm>
            <a:prstGeom prst="roundRect">
              <a:avLst>
                <a:gd fmla="val 26315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6"/>
            <p:cNvSpPr txBox="1"/>
            <p:nvPr/>
          </p:nvSpPr>
          <p:spPr>
            <a:xfrm>
              <a:off x="190500" y="197739"/>
              <a:ext cx="3621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touch_app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39" name="Google Shape;339;p6"/>
            <p:cNvSpPr txBox="1"/>
            <p:nvPr/>
          </p:nvSpPr>
          <p:spPr>
            <a:xfrm>
              <a:off x="190500" y="609600"/>
              <a:ext cx="21909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74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STEP 03</a:t>
              </a:r>
              <a:endParaRPr b="1" sz="74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IN" sz="1018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Option Selection</a:t>
              </a:r>
              <a:endParaRPr b="1" sz="1018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83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Awaits user choice selection (1-6) to initiate specific banking functions.</a:t>
              </a:r>
              <a:endParaRPr b="0" sz="833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7"/>
          <p:cNvGrpSpPr/>
          <p:nvPr/>
        </p:nvGrpSpPr>
        <p:grpSpPr>
          <a:xfrm>
            <a:off x="571500" y="428625"/>
            <a:ext cx="7848600" cy="762000"/>
            <a:chOff x="0" y="0"/>
            <a:chExt cx="7848600" cy="762000"/>
          </a:xfrm>
        </p:grpSpPr>
        <p:sp>
          <p:nvSpPr>
            <p:cNvPr id="345" name="Google Shape;345;p7"/>
            <p:cNvSpPr/>
            <p:nvPr/>
          </p:nvSpPr>
          <p:spPr>
            <a:xfrm>
              <a:off x="0" y="0"/>
              <a:ext cx="47700" cy="7620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284C7"/>
                </a:gs>
                <a:gs pos="100000">
                  <a:srgbClr val="0369A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 txBox="1"/>
            <p:nvPr/>
          </p:nvSpPr>
          <p:spPr>
            <a:xfrm>
              <a:off x="2286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0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SYSTEM SETUP &amp; CONFIGURATION</a:t>
              </a:r>
              <a:endParaRPr b="1" sz="10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INSTALLATION PROCEDURE</a:t>
              </a:r>
              <a:endParaRPr b="1" sz="10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97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Step-by-step environment setup, database creation, and script execution guide</a:t>
              </a:r>
              <a:endParaRPr b="0" sz="97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7" name="Google Shape;347;p7"/>
          <p:cNvGrpSpPr/>
          <p:nvPr/>
        </p:nvGrpSpPr>
        <p:grpSpPr>
          <a:xfrm>
            <a:off x="571500" y="1524000"/>
            <a:ext cx="2476500" cy="4667400"/>
            <a:chOff x="0" y="0"/>
            <a:chExt cx="2476500" cy="4667400"/>
          </a:xfrm>
        </p:grpSpPr>
        <p:sp>
          <p:nvSpPr>
            <p:cNvPr id="348" name="Google Shape;348;p7"/>
            <p:cNvSpPr/>
            <p:nvPr/>
          </p:nvSpPr>
          <p:spPr>
            <a:xfrm>
              <a:off x="0" y="0"/>
              <a:ext cx="2476500" cy="4667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7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0" name="Google Shape;350;p7"/>
            <p:cNvGrpSpPr/>
            <p:nvPr/>
          </p:nvGrpSpPr>
          <p:grpSpPr>
            <a:xfrm>
              <a:off x="228600" y="228600"/>
              <a:ext cx="609600" cy="266700"/>
              <a:chOff x="0" y="0"/>
              <a:chExt cx="609600" cy="266700"/>
            </a:xfrm>
          </p:grpSpPr>
          <p:sp>
            <p:nvSpPr>
              <p:cNvPr id="351" name="Google Shape;351;p7"/>
              <p:cNvSpPr/>
              <p:nvPr/>
            </p:nvSpPr>
            <p:spPr>
              <a:xfrm>
                <a:off x="0" y="0"/>
                <a:ext cx="6096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7"/>
              <p:cNvSpPr txBox="1"/>
              <p:nvPr/>
            </p:nvSpPr>
            <p:spPr>
              <a:xfrm>
                <a:off x="0" y="0"/>
                <a:ext cx="6096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IN" sz="900">
                    <a:solidFill>
                      <a:srgbClr val="0284C7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STEP 01</a:t>
                </a:r>
                <a:endParaRPr b="0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</p:grpSp>
        <p:grpSp>
          <p:nvGrpSpPr>
            <p:cNvPr id="353" name="Google Shape;353;p7"/>
            <p:cNvGrpSpPr/>
            <p:nvPr/>
          </p:nvGrpSpPr>
          <p:grpSpPr>
            <a:xfrm>
              <a:off x="228600" y="647700"/>
              <a:ext cx="419100" cy="451231"/>
              <a:chOff x="0" y="0"/>
              <a:chExt cx="419100" cy="451231"/>
            </a:xfrm>
          </p:grpSpPr>
          <p:sp>
            <p:nvSpPr>
              <p:cNvPr id="354" name="Google Shape;354;p7"/>
              <p:cNvSpPr/>
              <p:nvPr/>
            </p:nvSpPr>
            <p:spPr>
              <a:xfrm>
                <a:off x="0" y="0"/>
                <a:ext cx="419100" cy="419100"/>
              </a:xfrm>
              <a:prstGeom prst="roundRect">
                <a:avLst>
                  <a:gd fmla="val 22727" name="adj"/>
                </a:avLst>
              </a:prstGeom>
              <a:solidFill>
                <a:srgbClr val="F0F9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7"/>
              <p:cNvSpPr txBox="1"/>
              <p:nvPr/>
            </p:nvSpPr>
            <p:spPr>
              <a:xfrm>
                <a:off x="0" y="32131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2200">
                    <a:solidFill>
                      <a:srgbClr val="0284C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download</a:t>
                </a:r>
                <a:endParaRPr sz="22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356" name="Google Shape;356;p7"/>
            <p:cNvSpPr txBox="1"/>
            <p:nvPr/>
          </p:nvSpPr>
          <p:spPr>
            <a:xfrm>
              <a:off x="228600" y="1219200"/>
              <a:ext cx="2019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Prerequisites Setup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IN" sz="13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Install Python and MySQL from the web, then create database 'bank'.</a:t>
              </a:r>
              <a:endParaRPr b="0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57" name="Google Shape;357;p7"/>
            <p:cNvGrpSpPr/>
            <p:nvPr/>
          </p:nvGrpSpPr>
          <p:grpSpPr>
            <a:xfrm>
              <a:off x="171450" y="2381250"/>
              <a:ext cx="2133600" cy="2057400"/>
              <a:chOff x="0" y="0"/>
              <a:chExt cx="2133600" cy="2057400"/>
            </a:xfrm>
          </p:grpSpPr>
          <p:sp>
            <p:nvSpPr>
              <p:cNvPr id="358" name="Google Shape;358;p7"/>
              <p:cNvSpPr/>
              <p:nvPr/>
            </p:nvSpPr>
            <p:spPr>
              <a:xfrm>
                <a:off x="0" y="0"/>
                <a:ext cx="2133600" cy="2057400"/>
              </a:xfrm>
              <a:prstGeom prst="roundRect">
                <a:avLst>
                  <a:gd fmla="val 4629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7"/>
              <p:cNvSpPr txBox="1"/>
              <p:nvPr/>
            </p:nvSpPr>
            <p:spPr>
              <a:xfrm>
                <a:off x="152400" y="152400"/>
                <a:ext cx="1828800" cy="17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2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# Environment</a:t>
                </a:r>
                <a:endParaRPr b="1" sz="12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$ mysql -u root -p</a:t>
                </a:r>
                <a:endParaRPr sz="12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IN" sz="12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mysql&gt; </a:t>
                </a:r>
                <a:r>
                  <a:rPr b="0" lang="en-IN" sz="12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CREATE DATABASE </a:t>
                </a:r>
                <a:r>
                  <a:rPr b="1" lang="en-IN" sz="1250">
                    <a:solidFill>
                      <a:srgbClr val="F59E0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bank</a:t>
                </a:r>
                <a:r>
                  <a:rPr b="0" lang="en-IN" sz="12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;</a:t>
                </a:r>
                <a:endParaRPr b="1" sz="125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360" name="Google Shape;360;p7"/>
          <p:cNvGrpSpPr/>
          <p:nvPr/>
        </p:nvGrpSpPr>
        <p:grpSpPr>
          <a:xfrm>
            <a:off x="3333750" y="1524000"/>
            <a:ext cx="2476500" cy="4667400"/>
            <a:chOff x="0" y="0"/>
            <a:chExt cx="2476500" cy="4667400"/>
          </a:xfrm>
        </p:grpSpPr>
        <p:sp>
          <p:nvSpPr>
            <p:cNvPr id="361" name="Google Shape;361;p7"/>
            <p:cNvSpPr/>
            <p:nvPr/>
          </p:nvSpPr>
          <p:spPr>
            <a:xfrm>
              <a:off x="0" y="0"/>
              <a:ext cx="2476500" cy="4667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7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3" name="Google Shape;363;p7"/>
            <p:cNvGrpSpPr/>
            <p:nvPr/>
          </p:nvGrpSpPr>
          <p:grpSpPr>
            <a:xfrm>
              <a:off x="228600" y="228600"/>
              <a:ext cx="609600" cy="266700"/>
              <a:chOff x="0" y="0"/>
              <a:chExt cx="609600" cy="266700"/>
            </a:xfrm>
          </p:grpSpPr>
          <p:sp>
            <p:nvSpPr>
              <p:cNvPr id="364" name="Google Shape;364;p7"/>
              <p:cNvSpPr/>
              <p:nvPr/>
            </p:nvSpPr>
            <p:spPr>
              <a:xfrm>
                <a:off x="0" y="0"/>
                <a:ext cx="6096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7"/>
              <p:cNvSpPr txBox="1"/>
              <p:nvPr/>
            </p:nvSpPr>
            <p:spPr>
              <a:xfrm>
                <a:off x="0" y="0"/>
                <a:ext cx="6096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IN" sz="900">
                    <a:solidFill>
                      <a:srgbClr val="0284C7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STEP 02</a:t>
                </a:r>
                <a:endParaRPr b="0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</p:grpSp>
        <p:grpSp>
          <p:nvGrpSpPr>
            <p:cNvPr id="366" name="Google Shape;366;p7"/>
            <p:cNvGrpSpPr/>
            <p:nvPr/>
          </p:nvGrpSpPr>
          <p:grpSpPr>
            <a:xfrm>
              <a:off x="228600" y="647700"/>
              <a:ext cx="419100" cy="451231"/>
              <a:chOff x="0" y="0"/>
              <a:chExt cx="419100" cy="451231"/>
            </a:xfrm>
          </p:grpSpPr>
          <p:sp>
            <p:nvSpPr>
              <p:cNvPr id="367" name="Google Shape;367;p7"/>
              <p:cNvSpPr/>
              <p:nvPr/>
            </p:nvSpPr>
            <p:spPr>
              <a:xfrm>
                <a:off x="0" y="0"/>
                <a:ext cx="419100" cy="419100"/>
              </a:xfrm>
              <a:prstGeom prst="roundRect">
                <a:avLst>
                  <a:gd fmla="val 22727" name="adj"/>
                </a:avLst>
              </a:prstGeom>
              <a:solidFill>
                <a:srgbClr val="F0F9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7"/>
              <p:cNvSpPr txBox="1"/>
              <p:nvPr/>
            </p:nvSpPr>
            <p:spPr>
              <a:xfrm>
                <a:off x="0" y="32131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2200">
                    <a:solidFill>
                      <a:srgbClr val="0284C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table_chart</a:t>
                </a:r>
                <a:endParaRPr sz="22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369" name="Google Shape;369;p7"/>
            <p:cNvSpPr txBox="1"/>
            <p:nvPr/>
          </p:nvSpPr>
          <p:spPr>
            <a:xfrm>
              <a:off x="228600" y="1219200"/>
              <a:ext cx="2019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Run Table Scripts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I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Execute table.py, user_table.py, and transactions_table.py sequentially.</a:t>
              </a:r>
              <a:endParaRPr b="0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70" name="Google Shape;370;p7"/>
            <p:cNvGrpSpPr/>
            <p:nvPr/>
          </p:nvGrpSpPr>
          <p:grpSpPr>
            <a:xfrm>
              <a:off x="171450" y="2381250"/>
              <a:ext cx="2133600" cy="2057400"/>
              <a:chOff x="0" y="0"/>
              <a:chExt cx="2133600" cy="2057400"/>
            </a:xfrm>
          </p:grpSpPr>
          <p:sp>
            <p:nvSpPr>
              <p:cNvPr id="371" name="Google Shape;371;p7"/>
              <p:cNvSpPr/>
              <p:nvPr/>
            </p:nvSpPr>
            <p:spPr>
              <a:xfrm>
                <a:off x="0" y="0"/>
                <a:ext cx="2133600" cy="2057400"/>
              </a:xfrm>
              <a:prstGeom prst="roundRect">
                <a:avLst>
                  <a:gd fmla="val 4629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7"/>
              <p:cNvSpPr txBox="1"/>
              <p:nvPr/>
            </p:nvSpPr>
            <p:spPr>
              <a:xfrm>
                <a:off x="152400" y="152400"/>
                <a:ext cx="1828800" cy="17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1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# Database Tables</a:t>
                </a:r>
                <a:endParaRPr b="1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1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$ python </a:t>
                </a:r>
                <a:r>
                  <a:rPr lang="en-IN" sz="11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table.py</a:t>
                </a:r>
                <a:endParaRPr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IN" sz="11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$ python </a:t>
                </a:r>
                <a:r>
                  <a:rPr lang="en-IN" sz="11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user_table.py</a:t>
                </a:r>
                <a:endParaRPr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IN" sz="11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$ python </a:t>
                </a:r>
                <a:r>
                  <a:rPr lang="en-IN" sz="1150">
                    <a:solidFill>
                      <a:srgbClr val="4ADE8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transactions.py</a:t>
                </a:r>
                <a:endParaRPr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373" name="Google Shape;373;p7"/>
          <p:cNvGrpSpPr/>
          <p:nvPr/>
        </p:nvGrpSpPr>
        <p:grpSpPr>
          <a:xfrm>
            <a:off x="6096000" y="1524000"/>
            <a:ext cx="2476500" cy="4667400"/>
            <a:chOff x="0" y="0"/>
            <a:chExt cx="2476500" cy="4667400"/>
          </a:xfrm>
        </p:grpSpPr>
        <p:sp>
          <p:nvSpPr>
            <p:cNvPr id="374" name="Google Shape;374;p7"/>
            <p:cNvSpPr/>
            <p:nvPr/>
          </p:nvSpPr>
          <p:spPr>
            <a:xfrm>
              <a:off x="0" y="0"/>
              <a:ext cx="2476500" cy="4667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905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7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6" name="Google Shape;376;p7"/>
            <p:cNvGrpSpPr/>
            <p:nvPr/>
          </p:nvGrpSpPr>
          <p:grpSpPr>
            <a:xfrm>
              <a:off x="228600" y="228600"/>
              <a:ext cx="609600" cy="266700"/>
              <a:chOff x="0" y="0"/>
              <a:chExt cx="609600" cy="266700"/>
            </a:xfrm>
          </p:grpSpPr>
          <p:sp>
            <p:nvSpPr>
              <p:cNvPr id="377" name="Google Shape;377;p7"/>
              <p:cNvSpPr/>
              <p:nvPr/>
            </p:nvSpPr>
            <p:spPr>
              <a:xfrm>
                <a:off x="0" y="0"/>
                <a:ext cx="609600" cy="266700"/>
              </a:xfrm>
              <a:prstGeom prst="roundRect">
                <a:avLst>
                  <a:gd fmla="val 50000" name="adj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7"/>
              <p:cNvSpPr txBox="1"/>
              <p:nvPr/>
            </p:nvSpPr>
            <p:spPr>
              <a:xfrm>
                <a:off x="0" y="0"/>
                <a:ext cx="6096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IN" sz="900">
                    <a:solidFill>
                      <a:srgbClr val="FFFFFF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STEP 03</a:t>
                </a:r>
                <a:endParaRPr b="0" sz="9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</p:grpSp>
        <p:grpSp>
          <p:nvGrpSpPr>
            <p:cNvPr id="379" name="Google Shape;379;p7"/>
            <p:cNvGrpSpPr/>
            <p:nvPr/>
          </p:nvGrpSpPr>
          <p:grpSpPr>
            <a:xfrm>
              <a:off x="228600" y="647700"/>
              <a:ext cx="419100" cy="451231"/>
              <a:chOff x="0" y="0"/>
              <a:chExt cx="419100" cy="451231"/>
            </a:xfrm>
          </p:grpSpPr>
          <p:sp>
            <p:nvSpPr>
              <p:cNvPr id="380" name="Google Shape;380;p7"/>
              <p:cNvSpPr/>
              <p:nvPr/>
            </p:nvSpPr>
            <p:spPr>
              <a:xfrm>
                <a:off x="0" y="0"/>
                <a:ext cx="419100" cy="419100"/>
              </a:xfrm>
              <a:prstGeom prst="roundRect">
                <a:avLst>
                  <a:gd fmla="val 22727" name="adj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7"/>
              <p:cNvSpPr txBox="1"/>
              <p:nvPr/>
            </p:nvSpPr>
            <p:spPr>
              <a:xfrm>
                <a:off x="0" y="32131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220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play_circle_filled</a:t>
                </a:r>
                <a:endParaRPr sz="22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382" name="Google Shape;382;p7"/>
            <p:cNvSpPr txBox="1"/>
            <p:nvPr/>
          </p:nvSpPr>
          <p:spPr>
            <a:xfrm>
              <a:off x="228600" y="1219200"/>
              <a:ext cx="2019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Launch &amp; Register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I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Open the main bank application file and proceed to register your account.</a:t>
              </a:r>
              <a:endParaRPr b="0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83" name="Google Shape;383;p7"/>
            <p:cNvGrpSpPr/>
            <p:nvPr/>
          </p:nvGrpSpPr>
          <p:grpSpPr>
            <a:xfrm>
              <a:off x="171450" y="2381250"/>
              <a:ext cx="2133600" cy="2057400"/>
              <a:chOff x="0" y="0"/>
              <a:chExt cx="2133600" cy="2057400"/>
            </a:xfrm>
          </p:grpSpPr>
          <p:sp>
            <p:nvSpPr>
              <p:cNvPr id="384" name="Google Shape;384;p7"/>
              <p:cNvSpPr/>
              <p:nvPr/>
            </p:nvSpPr>
            <p:spPr>
              <a:xfrm>
                <a:off x="0" y="0"/>
                <a:ext cx="2133600" cy="2057400"/>
              </a:xfrm>
              <a:prstGeom prst="roundRect">
                <a:avLst>
                  <a:gd fmla="val 4629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7"/>
              <p:cNvSpPr txBox="1"/>
              <p:nvPr/>
            </p:nvSpPr>
            <p:spPr>
              <a:xfrm>
                <a:off x="152400" y="152400"/>
                <a:ext cx="1828800" cy="17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8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#</a:t>
                </a:r>
                <a:r>
                  <a:rPr b="1" lang="en-IN" sz="115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Execute App</a:t>
                </a:r>
                <a:endParaRPr b="1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150">
                    <a:solidFill>
                      <a:srgbClr val="E2E8F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$ python </a:t>
                </a:r>
                <a:r>
                  <a:rPr lang="en-IN" sz="1150">
                    <a:solidFill>
                      <a:srgbClr val="F43F5E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main_bank.py</a:t>
                </a:r>
                <a:endParaRPr sz="11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100">
                    <a:solidFill>
                      <a:srgbClr val="60A5F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[INFO] Bank System Initialized successfully!</a:t>
                </a:r>
                <a:endParaRPr sz="11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" name="Google Shape;390;p8"/>
          <p:cNvGrpSpPr/>
          <p:nvPr/>
        </p:nvGrpSpPr>
        <p:grpSpPr>
          <a:xfrm>
            <a:off x="571500" y="428625"/>
            <a:ext cx="7848600" cy="762000"/>
            <a:chOff x="0" y="0"/>
            <a:chExt cx="7848600" cy="762000"/>
          </a:xfrm>
        </p:grpSpPr>
        <p:sp>
          <p:nvSpPr>
            <p:cNvPr id="391" name="Google Shape;391;p8"/>
            <p:cNvSpPr/>
            <p:nvPr/>
          </p:nvSpPr>
          <p:spPr>
            <a:xfrm>
              <a:off x="0" y="0"/>
              <a:ext cx="47700" cy="7620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284C7"/>
                </a:gs>
                <a:gs pos="100000">
                  <a:srgbClr val="0369A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8"/>
            <p:cNvSpPr txBox="1"/>
            <p:nvPr/>
          </p:nvSpPr>
          <p:spPr>
            <a:xfrm>
              <a:off x="2286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0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STARK BANK MANAGEMENT SYSTEM</a:t>
              </a:r>
              <a:endParaRPr b="1" sz="10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THANK YOU</a:t>
              </a:r>
              <a:endParaRPr b="1" sz="10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97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Thank you for your time and attention during this project presentation</a:t>
              </a:r>
              <a:endParaRPr b="0" sz="97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3" name="Google Shape;393;p8"/>
          <p:cNvGrpSpPr/>
          <p:nvPr/>
        </p:nvGrpSpPr>
        <p:grpSpPr>
          <a:xfrm>
            <a:off x="571500" y="1524000"/>
            <a:ext cx="2476500" cy="4667400"/>
            <a:chOff x="0" y="0"/>
            <a:chExt cx="2476500" cy="4667400"/>
          </a:xfrm>
        </p:grpSpPr>
        <p:sp>
          <p:nvSpPr>
            <p:cNvPr id="394" name="Google Shape;394;p8"/>
            <p:cNvSpPr/>
            <p:nvPr/>
          </p:nvSpPr>
          <p:spPr>
            <a:xfrm>
              <a:off x="0" y="0"/>
              <a:ext cx="2476500" cy="4667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8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8"/>
            <p:cNvSpPr/>
            <p:nvPr/>
          </p:nvSpPr>
          <p:spPr>
            <a:xfrm>
              <a:off x="228600" y="228600"/>
              <a:ext cx="685800" cy="266700"/>
            </a:xfrm>
            <a:prstGeom prst="roundRect">
              <a:avLst>
                <a:gd fmla="val 50000" name="adj"/>
              </a:avLst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8"/>
            <p:cNvSpPr txBox="1"/>
            <p:nvPr/>
          </p:nvSpPr>
          <p:spPr>
            <a:xfrm>
              <a:off x="228600" y="228600"/>
              <a:ext cx="6858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I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Q&amp;A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398" name="Google Shape;398;p8"/>
            <p:cNvSpPr/>
            <p:nvPr/>
          </p:nvSpPr>
          <p:spPr>
            <a:xfrm>
              <a:off x="228600" y="647700"/>
              <a:ext cx="419100" cy="419100"/>
            </a:xfrm>
            <a:prstGeom prst="roundRect">
              <a:avLst>
                <a:gd fmla="val 22727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8"/>
            <p:cNvSpPr txBox="1"/>
            <p:nvPr/>
          </p:nvSpPr>
          <p:spPr>
            <a:xfrm>
              <a:off x="228600" y="679831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2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forum</a:t>
              </a:r>
              <a:endParaRPr sz="22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00" name="Google Shape;400;p8"/>
            <p:cNvSpPr txBox="1"/>
            <p:nvPr/>
          </p:nvSpPr>
          <p:spPr>
            <a:xfrm>
              <a:off x="228600" y="1219200"/>
              <a:ext cx="2019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Questions &amp; Answers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I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Open floor for discussion, feedback, and technical inquiry.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1" name="Google Shape;401;p8"/>
            <p:cNvSpPr/>
            <p:nvPr/>
          </p:nvSpPr>
          <p:spPr>
            <a:xfrm>
              <a:off x="171450" y="2381250"/>
              <a:ext cx="2133600" cy="2057400"/>
            </a:xfrm>
            <a:prstGeom prst="roundRect">
              <a:avLst>
                <a:gd fmla="val 4629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8"/>
            <p:cNvSpPr txBox="1"/>
            <p:nvPr/>
          </p:nvSpPr>
          <p:spPr>
            <a:xfrm>
              <a:off x="323850" y="2533650"/>
              <a:ext cx="1828800" cy="17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0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System Status</a:t>
              </a:r>
              <a:endParaRPr b="1" sz="10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IN" sz="10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$ status --check</a:t>
              </a:r>
              <a:endParaRPr b="0" sz="10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IN" sz="105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[OK] </a:t>
              </a:r>
              <a:r>
                <a:rPr b="0" lang="en-IN" sz="10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Database Ready</a:t>
              </a:r>
              <a:endParaRPr b="1" sz="1050">
                <a:solidFill>
                  <a:srgbClr val="4ADE8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IN" sz="10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 Ready for Q&amp;A</a:t>
              </a:r>
              <a:endParaRPr b="0" sz="105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03" name="Google Shape;403;p8"/>
          <p:cNvGrpSpPr/>
          <p:nvPr/>
        </p:nvGrpSpPr>
        <p:grpSpPr>
          <a:xfrm>
            <a:off x="3333750" y="1524000"/>
            <a:ext cx="2476500" cy="4667400"/>
            <a:chOff x="0" y="0"/>
            <a:chExt cx="2476500" cy="4667400"/>
          </a:xfrm>
        </p:grpSpPr>
        <p:sp>
          <p:nvSpPr>
            <p:cNvPr id="404" name="Google Shape;404;p8"/>
            <p:cNvSpPr/>
            <p:nvPr/>
          </p:nvSpPr>
          <p:spPr>
            <a:xfrm>
              <a:off x="0" y="0"/>
              <a:ext cx="2476500" cy="4667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8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8"/>
            <p:cNvSpPr/>
            <p:nvPr/>
          </p:nvSpPr>
          <p:spPr>
            <a:xfrm>
              <a:off x="228600" y="228600"/>
              <a:ext cx="685800" cy="266700"/>
            </a:xfrm>
            <a:prstGeom prst="roundRect">
              <a:avLst>
                <a:gd fmla="val 50000" name="adj"/>
              </a:avLst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8"/>
            <p:cNvSpPr txBox="1"/>
            <p:nvPr/>
          </p:nvSpPr>
          <p:spPr>
            <a:xfrm>
              <a:off x="228600" y="228600"/>
              <a:ext cx="6858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IN" sz="900">
                  <a:solidFill>
                    <a:srgbClr val="0284C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STACK</a:t>
              </a:r>
              <a:endParaRPr b="0" sz="900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408" name="Google Shape;408;p8"/>
            <p:cNvSpPr/>
            <p:nvPr/>
          </p:nvSpPr>
          <p:spPr>
            <a:xfrm>
              <a:off x="228600" y="647700"/>
              <a:ext cx="419100" cy="419100"/>
            </a:xfrm>
            <a:prstGeom prst="roundRect">
              <a:avLst>
                <a:gd fmla="val 22727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8"/>
            <p:cNvSpPr txBox="1"/>
            <p:nvPr/>
          </p:nvSpPr>
          <p:spPr>
            <a:xfrm>
              <a:off x="228600" y="679831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2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 sz="22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10" name="Google Shape;410;p8"/>
            <p:cNvSpPr txBox="1"/>
            <p:nvPr/>
          </p:nvSpPr>
          <p:spPr>
            <a:xfrm>
              <a:off x="228600" y="1219200"/>
              <a:ext cx="2019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Tech Architecture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I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Built with Python 3.7 &amp; MySQL database relational schema.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1" name="Google Shape;411;p8"/>
            <p:cNvSpPr/>
            <p:nvPr/>
          </p:nvSpPr>
          <p:spPr>
            <a:xfrm>
              <a:off x="171450" y="2381250"/>
              <a:ext cx="2133600" cy="2057400"/>
            </a:xfrm>
            <a:prstGeom prst="roundRect">
              <a:avLst>
                <a:gd fmla="val 4629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8"/>
            <p:cNvSpPr txBox="1"/>
            <p:nvPr/>
          </p:nvSpPr>
          <p:spPr>
            <a:xfrm>
              <a:off x="323850" y="2533650"/>
              <a:ext cx="1828800" cy="17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0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Core Modules</a:t>
              </a:r>
              <a:endParaRPr b="1" sz="10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IN" sz="10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- Python 3.7 Shell</a:t>
              </a:r>
              <a:endParaRPr b="0" sz="10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IN" sz="10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- MySQL Connector</a:t>
              </a:r>
              <a:endParaRPr b="0" sz="10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IN" sz="105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- Transaction Engine</a:t>
              </a:r>
              <a:endParaRPr b="0" sz="1050">
                <a:solidFill>
                  <a:srgbClr val="4ADE8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13" name="Google Shape;413;p8"/>
          <p:cNvGrpSpPr/>
          <p:nvPr/>
        </p:nvGrpSpPr>
        <p:grpSpPr>
          <a:xfrm>
            <a:off x="6096000" y="1524000"/>
            <a:ext cx="2476500" cy="4667400"/>
            <a:chOff x="0" y="0"/>
            <a:chExt cx="2476500" cy="4667400"/>
          </a:xfrm>
        </p:grpSpPr>
        <p:sp>
          <p:nvSpPr>
            <p:cNvPr id="414" name="Google Shape;414;p8"/>
            <p:cNvSpPr/>
            <p:nvPr/>
          </p:nvSpPr>
          <p:spPr>
            <a:xfrm>
              <a:off x="0" y="0"/>
              <a:ext cx="2476500" cy="4667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905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8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8"/>
            <p:cNvSpPr/>
            <p:nvPr/>
          </p:nvSpPr>
          <p:spPr>
            <a:xfrm>
              <a:off x="228600" y="228600"/>
              <a:ext cx="685800" cy="2667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8"/>
            <p:cNvSpPr txBox="1"/>
            <p:nvPr/>
          </p:nvSpPr>
          <p:spPr>
            <a:xfrm>
              <a:off x="228600" y="228600"/>
              <a:ext cx="6858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IN" sz="9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FINISH</a:t>
              </a:r>
              <a:endParaRPr b="0" sz="9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418" name="Google Shape;418;p8"/>
            <p:cNvSpPr/>
            <p:nvPr/>
          </p:nvSpPr>
          <p:spPr>
            <a:xfrm>
              <a:off x="228600" y="647700"/>
              <a:ext cx="419100" cy="419100"/>
            </a:xfrm>
            <a:prstGeom prst="roundRect">
              <a:avLst>
                <a:gd fmla="val 22727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8"/>
            <p:cNvSpPr txBox="1"/>
            <p:nvPr/>
          </p:nvSpPr>
          <p:spPr>
            <a:xfrm>
              <a:off x="228600" y="679831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2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22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20" name="Google Shape;420;p8"/>
            <p:cNvSpPr txBox="1"/>
            <p:nvPr/>
          </p:nvSpPr>
          <p:spPr>
            <a:xfrm>
              <a:off x="228600" y="1219200"/>
              <a:ext cx="2019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Session Concluded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I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System demonstration and code overview successfully completed.</a:t>
              </a:r>
              <a:endParaRPr b="0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1" name="Google Shape;421;p8"/>
            <p:cNvSpPr/>
            <p:nvPr/>
          </p:nvSpPr>
          <p:spPr>
            <a:xfrm>
              <a:off x="171450" y="2381250"/>
              <a:ext cx="2133600" cy="2057400"/>
            </a:xfrm>
            <a:prstGeom prst="roundRect">
              <a:avLst>
                <a:gd fmla="val 4629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8"/>
            <p:cNvSpPr txBox="1"/>
            <p:nvPr/>
          </p:nvSpPr>
          <p:spPr>
            <a:xfrm>
              <a:off x="323850" y="2533650"/>
              <a:ext cx="1828800" cy="17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0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Execution Log</a:t>
              </a:r>
              <a:endParaRPr b="1" sz="10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IN" sz="105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$ exit --session</a:t>
              </a:r>
              <a:endParaRPr b="0" sz="105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IN" sz="105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[INFO] System Closed</a:t>
              </a:r>
              <a:endParaRPr b="0" sz="105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IN" sz="105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 Have a great day!</a:t>
              </a:r>
              <a:endParaRPr b="1" sz="1050">
                <a:solidFill>
                  <a:srgbClr val="4ADE8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2020-01-01T07:24:29Z</dcterms:created>
  <dc:creator>Cadet</dc:creator>
</cp:coreProperties>
</file>